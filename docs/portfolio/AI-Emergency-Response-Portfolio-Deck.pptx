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8e40a90f23d4123" /><Relationship Type="http://schemas.openxmlformats.org/officeDocument/2006/relationships/extended-properties" Target="/docProps/app.xml" Id="Ra6acba5669454cac" /><Relationship Type="http://schemas.openxmlformats.org/officeDocument/2006/relationships/officeDocument" Target="/ppt/presentation.xml" Id="R8e5a959642b7417a" /></Relationships>
</file>

<file path=ppt/presentation.xml><?xml version="1.0" encoding="utf-8"?>
<p:presentation xmlns:p="http://schemas.openxmlformats.org/presentationml/2006/main">
  <p:sldMasterIdLst>
    <p:sldMasterId xmlns:r="http://schemas.openxmlformats.org/officeDocument/2006/relationships" id="2147483648" r:id="R1732c32962cd4ba3"/>
  </p:sldMasterIdLst>
  <p:notesMasterIdLst>
    <p:notesMasterId xmlns:r="http://schemas.openxmlformats.org/officeDocument/2006/relationships" r:id="R6f3651d9d01c421b"/>
  </p:notesMasterIdLst>
  <p:sldIdLst>
    <p:sldId xmlns:r="http://schemas.openxmlformats.org/officeDocument/2006/relationships" id="256" r:id="R0e4ef9646ff44ad9"/>
    <p:sldId xmlns:r="http://schemas.openxmlformats.org/officeDocument/2006/relationships" id="257" r:id="R0b5f8c86e2b940a2"/>
    <p:sldId xmlns:r="http://schemas.openxmlformats.org/officeDocument/2006/relationships" id="258" r:id="Ra3c42edc8953421c"/>
    <p:sldId xmlns:r="http://schemas.openxmlformats.org/officeDocument/2006/relationships" id="259" r:id="Rbfb1d1fd4f1a448b"/>
    <p:sldId xmlns:r="http://schemas.openxmlformats.org/officeDocument/2006/relationships" id="260" r:id="Rbe54b11d39cb4b33"/>
    <p:sldId xmlns:r="http://schemas.openxmlformats.org/officeDocument/2006/relationships" id="261" r:id="R95e403798fb4424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6663d5668094238" /><Relationship Type="http://schemas.openxmlformats.org/officeDocument/2006/relationships/slideMaster" Target="/ppt/slideMasters/slideMaster1.xml" Id="R1732c32962cd4ba3" /><Relationship Type="http://schemas.openxmlformats.org/officeDocument/2006/relationships/notesMaster" Target="/ppt/notesMasters/notesMaster1.xml" Id="R6f3651d9d01c421b" /><Relationship Type="http://schemas.openxmlformats.org/officeDocument/2006/relationships/presProps" Target="/ppt/presProps.xml" Id="R66bde27a91784ab8" /><Relationship Type="http://schemas.openxmlformats.org/officeDocument/2006/relationships/tableStyles" Target="/ppt/tableStyles.xml" Id="R1e7b5aa5df2b47b4" /><Relationship Type="http://schemas.openxmlformats.org/officeDocument/2006/relationships/slide" Target="/ppt/slides/slide1.xml" Id="R0e4ef9646ff44ad9" /><Relationship Type="http://schemas.openxmlformats.org/officeDocument/2006/relationships/slide" Target="/ppt/slides/slide2.xml" Id="R0b5f8c86e2b940a2" /><Relationship Type="http://schemas.openxmlformats.org/officeDocument/2006/relationships/slide" Target="/ppt/slides/slide3.xml" Id="Ra3c42edc8953421c" /><Relationship Type="http://schemas.openxmlformats.org/officeDocument/2006/relationships/slide" Target="/ppt/slides/slide4.xml" Id="Rbfb1d1fd4f1a448b" /><Relationship Type="http://schemas.openxmlformats.org/officeDocument/2006/relationships/slide" Target="/ppt/slides/slide5.xml" Id="Rbe54b11d39cb4b33" /><Relationship Type="http://schemas.openxmlformats.org/officeDocument/2006/relationships/slide" Target="/ppt/slides/slide6.xml" Id="R95e403798fb4424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3be2be3bfc44e8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7b59906ee1b4878" /><Relationship Type="http://schemas.openxmlformats.org/officeDocument/2006/relationships/notesMaster" Target="/ppt/notesMasters/notesMaster1.xml" Id="R709664fcc15b4fa6" /></Relationships>
</file>

<file path=ppt/notesSlides/_rels/notesSlide2.xml.rels>&#65279;<?xml version="1.0" encoding="utf-8"?><Relationships xmlns="http://schemas.openxmlformats.org/package/2006/relationships"><Relationship Type="http://schemas.openxmlformats.org/officeDocument/2006/relationships/slide" Target="/ppt/slides/slide2.xml" Id="R2c90e542a19c4cd2" /><Relationship Type="http://schemas.openxmlformats.org/officeDocument/2006/relationships/notesMaster" Target="/ppt/notesMasters/notesMaster1.xml" Id="Reacb84a576cb48e8" /></Relationships>
</file>

<file path=ppt/notesSlides/_rels/notesSlide3.xml.rels>&#65279;<?xml version="1.0" encoding="utf-8"?><Relationships xmlns="http://schemas.openxmlformats.org/package/2006/relationships"><Relationship Type="http://schemas.openxmlformats.org/officeDocument/2006/relationships/slide" Target="/ppt/slides/slide3.xml" Id="R358cbe9f3a77466f" /><Relationship Type="http://schemas.openxmlformats.org/officeDocument/2006/relationships/notesMaster" Target="/ppt/notesMasters/notesMaster1.xml" Id="Rd01813b25e024176" /></Relationships>
</file>

<file path=ppt/notesSlides/_rels/notesSlide4.xml.rels>&#65279;<?xml version="1.0" encoding="utf-8"?><Relationships xmlns="http://schemas.openxmlformats.org/package/2006/relationships"><Relationship Type="http://schemas.openxmlformats.org/officeDocument/2006/relationships/slide" Target="/ppt/slides/slide4.xml" Id="R42df5214a2fd44dc" /><Relationship Type="http://schemas.openxmlformats.org/officeDocument/2006/relationships/notesMaster" Target="/ppt/notesMasters/notesMaster1.xml" Id="R23d585bd5feb441b" /></Relationships>
</file>

<file path=ppt/notesSlides/_rels/notesSlide5.xml.rels>&#65279;<?xml version="1.0" encoding="utf-8"?><Relationships xmlns="http://schemas.openxmlformats.org/package/2006/relationships"><Relationship Type="http://schemas.openxmlformats.org/officeDocument/2006/relationships/slide" Target="/ppt/slides/slide5.xml" Id="R2194d1403ed34cf8" /><Relationship Type="http://schemas.openxmlformats.org/officeDocument/2006/relationships/notesMaster" Target="/ppt/notesMasters/notesMaster1.xml" Id="Rf25afc518c7d4ad6" /></Relationships>
</file>

<file path=ppt/notesSlides/_rels/notesSlide6.xml.rels>&#65279;<?xml version="1.0" encoding="utf-8"?><Relationships xmlns="http://schemas.openxmlformats.org/package/2006/relationships"><Relationship Type="http://schemas.openxmlformats.org/officeDocument/2006/relationships/slide" Target="/ppt/slides/slide6.xml" Id="Ref1869821a034b0d" /><Relationship Type="http://schemas.openxmlformats.org/officeDocument/2006/relationships/notesMaster" Target="/ppt/notesMasters/notesMaster1.xml" Id="Rfb689df8e2ed4f5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Describe the difficulty of coordinating incomplete, overlapping incident reports and changing resource context. State that this is a local synthetic-data portfolio demo. The application is not hosted as a verified public demo, is not connected to emergency authorities, and is not approved for real emergency operations. Sources: README.md; docs/portfolio/feature-verification.md.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that reports contain observations, not confirmed facts. Unknown values remain unknown. The DEMO18 situation manually groups three potentially overlapping reports. It is not a confirmed duplicate, AI summary, or automatic clustering result. Routes and permission boundaries are described in the source controllers and docs/portfolio/demo-walkthrough.md.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owner's local dashboard capture from 2026-10-18 (docs/portfolio/screenshots/dashboard-2026-10-18.png). It visibly shows 12 active/unassigned reports, eight critical incidents, six open escalation alerts, and eight unread alerts. The source commit and dataset identity are unknown; do not present the shown counts as DEMO18 or responsive acceptance evidence. The screenshot index records the limitations and unresolved UI states.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browser calls the MVC Web app and connects directly to the API SignalR hub. The API depends on Application and Infrastructure layers. SQL Server persists application data and the transactional outbox. Azure AI, Search, storage, and Service Bus require configuration. Selected consumers run inside the API; there is no standalone Worker host, and some queues remain in process. The diagram uses editable native PowerPoint shapes and connectors. Source: README.md and docs/architecture.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normal Development host does not provide a fake AI provider. Only ask a Copilot question when configured services and an approved synthetic source are available; otherwise show the unavailable state. Do not fabricate citations or forecasts. DEMO18's three flood-related reports are manually grouped and not confirmed duplicates. A seeded notification record does not prove message delivery. Sources: docs/portfolio/synthetic-demo-data.md; docs/portfolio/demo-walkthrough.md; Copilot controller and UI.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passing build and tests are the 2026-10-17 baseline and predate later API startup, SignalR logging, and Copilot memory edits. Current screenshots provide limited desktop evidence only; resource loading, active situations, Copilot answer, responsive behavior, and the full walkthrough remain pending. The 2026-10-18 Copilot exception was caused by attaching a second tracked CopilotConversation. A tracked-query fix and SQLite regression test are in the worktree, but the focused build/test attempt failed before compilation during .NET project-reference/workload SDK resolution; do not claim the fix verified. Development startup migration behavior still requires confirming the selected local database. Azure deployment is out of scope. Sources: docs/portfolio/ui-ux-verification.md; docs/portfolio/feature-verification.md; docs/portfolio/screenshots/README.md.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1f2eda9fd3c407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1bd8316874a42f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aa932c2d8b64a0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0112ebeac624c4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9091c81317b47e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24761a440774b6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D1177BA-EC67-4B2E-A3BD-DD64278C532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B8A4A58-E339-47DE-964B-043FCEFF476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87C2723-BE48-4B35-9E09-6B240519CB2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0C44C94-60F8-4EF7-ABBC-CC229A1A455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AB5B250-2072-4100-88CC-8D81A6B73C9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2CD4B21-9453-42A9-8B54-2320F2597CC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6C5FC23-2111-4E8B-9102-8628A905C2F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BADE911-494A-4C30-BE90-BEAF6E59849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39FE390-68C5-4229-B782-4C93FB2ADE8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733DE76-4284-44D7-9535-D8ED64488DB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1e958ea98664e6e" /><Relationship Type="http://schemas.openxmlformats.org/officeDocument/2006/relationships/slideLayout" Target="/ppt/slideLayouts/slideLayout1.xml" Id="R993532a9007f44c7" /><Relationship Type="http://schemas.openxmlformats.org/officeDocument/2006/relationships/slideLayout" Target="/ppt/slideLayouts/slideLayout2.xml" Id="Re688709a69b64fbd" /><Relationship Type="http://schemas.openxmlformats.org/officeDocument/2006/relationships/slideLayout" Target="/ppt/slideLayouts/slideLayout3.xml" Id="R2822ccc6d7c24be8" /><Relationship Type="http://schemas.openxmlformats.org/officeDocument/2006/relationships/slideLayout" Target="/ppt/slideLayouts/slideLayout4.xml" Id="Rd2cd99ed7d93425a" /><Relationship Type="http://schemas.openxmlformats.org/officeDocument/2006/relationships/slideLayout" Target="/ppt/slideLayouts/slideLayout5.xml" Id="R69284aabbb0d462b" /><Relationship Type="http://schemas.openxmlformats.org/officeDocument/2006/relationships/slideLayout" Target="/ppt/slideLayouts/slideLayout6.xml" Id="Rd08051ae803547e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93532a9007f44c7"/>
    <p:sldLayoutId xmlns:r="http://schemas.openxmlformats.org/officeDocument/2006/relationships" id="2147483650" r:id="Re688709a69b64fbd"/>
    <p:sldLayoutId xmlns:r="http://schemas.openxmlformats.org/officeDocument/2006/relationships" id="2147483651" r:id="R2822ccc6d7c24be8"/>
    <p:sldLayoutId xmlns:r="http://schemas.openxmlformats.org/officeDocument/2006/relationships" id="2147483652" r:id="Rd2cd99ed7d93425a"/>
    <p:sldLayoutId xmlns:r="http://schemas.openxmlformats.org/officeDocument/2006/relationships" id="2147483653" r:id="R69284aabbb0d462b"/>
    <p:sldLayoutId xmlns:r="http://schemas.openxmlformats.org/officeDocument/2006/relationships" id="2147483654" r:id="Rd08051ae803547e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2e6e7f94bd7406d" /><Relationship Type="http://schemas.openxmlformats.org/officeDocument/2006/relationships/notesSlide" Target="/ppt/notesSlides/notesSlide1.xml" Id="R949ef38c8078458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3cbad3396d64e2a" /><Relationship Type="http://schemas.openxmlformats.org/officeDocument/2006/relationships/notesSlide" Target="/ppt/notesSlides/notesSlide2.xml" Id="Rac1bade57337457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e31863f6a214f25" /><Relationship Type="http://schemas.openxmlformats.org/officeDocument/2006/relationships/image" Target="/ppt/media/image.png" Id="R1f9f95b6227742de" /><Relationship Type="http://schemas.openxmlformats.org/officeDocument/2006/relationships/notesSlide" Target="/ppt/notesSlides/notesSlide3.xml" Id="R5297fe3970b9483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a3b7138b4c64be8" /><Relationship Type="http://schemas.openxmlformats.org/officeDocument/2006/relationships/notesSlide" Target="/ppt/notesSlides/notesSlide4.xml" Id="R10e8bdadb47343b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ee05f227e6c4b04" /><Relationship Type="http://schemas.openxmlformats.org/officeDocument/2006/relationships/notesSlide" Target="/ppt/notesSlides/notesSlide5.xml" Id="R3f3ab9312faf4ce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59c456342104b91" /><Relationship Type="http://schemas.openxmlformats.org/officeDocument/2006/relationships/notesSlide" Target="/ppt/notesSlides/notesSlide6.xml" Id="R9bc815aea223465c" /></Relationships>
</file>

<file path=ppt/slides/slide1.xml><?xml version="1.0" encoding="utf-8"?>
<p:sld xmlns:p="http://schemas.openxmlformats.org/presentationml/2006/main">
  <p:cSld>
    <p:bg>
      <p:bgPr>
        <a:solidFill xmlns:a="http://schemas.openxmlformats.org/drawingml/2006/main">
          <a:srgbClr val="102A43"/>
        </a:solidFill>
      </p:bgPr>
    </p:bg>
    <p:spTree>
      <p:nvGrpSpPr>
        <p:cNvPr id="1" name=""/>
        <p:cNvGrpSpPr/>
        <p:nvPr/>
      </p:nvGrpSpPr>
      <p:grpSpPr>
        <a:xfrm xmlns:a="http://schemas.openxmlformats.org/drawingml/2006/main"/>
      </p:grpSpPr>
      <p:sp>
        <p:nvSpPr>
          <p:cNvPr id="5" name="title">
            <a:extLst xmlns:a="http://schemas.openxmlformats.org/drawingml/2006/main">
              <a:ext uri="{FF2B5EF4-FFF2-40B4-BE49-F238E27FC236}">
                <a16:creationId xmlns:a16="http://schemas.microsoft.com/office/drawing/2014/main" id="{1AC454FA-49E8-40D5-998E-E16BF7107191}"/>
              </a:ext>
            </a:extLst>
          </p:cNvPr>
          <p:cNvSpPr>
            <a:spLocks xmlns:a="http://schemas.openxmlformats.org/drawingml/2006/main" noGrp="1"/>
          </p:cNvSpPr>
          <p:nvPr/>
        </p:nvSpPr>
        <p:spPr>
          <a:xfrm xmlns:a="http://schemas.openxmlformats.org/drawingml/2006/main">
            <a:off x="781050" y="1466850"/>
            <a:ext cx="102870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4650" b="1">
                <a:solidFill>
                  <a:srgbClr val="FFFFFF"/>
                </a:solidFill>
                <a:latin typeface="Arial"/>
                <a:ea typeface="Arial"/>
                <a:cs typeface="Arial"/>
              </a:defRPr>
            </a:defPPr>
          </a:lstStyle>
          <a:p xmlns:a="http://schemas.openxmlformats.org/drawingml/2006/main">
            <a:pPr algn="l">
              <a:lnSpc>
                <a:spcPct val="98000"/>
              </a:lnSpc>
              <a:buNone/>
              <a:defRPr sz="4650" b="1">
                <a:solidFill>
                  <a:srgbClr val="FFFFFF"/>
                </a:solidFill>
                <a:latin typeface="Arial"/>
                <a:ea typeface="Arial"/>
                <a:cs typeface="Arial"/>
              </a:defRPr>
            </a:pPr>
            <a:r>
              <a:rPr sz="4650" b="1">
                <a:solidFill>
                  <a:srgbClr val="FFFFFF"/>
                </a:solidFill>
                <a:latin typeface="Arial"/>
                <a:ea typeface="Arial"/>
                <a:cs typeface="Arial"/>
              </a:rPr>
              <a:t>AI Emergency Response</a:t>
            </a:r>
          </a:p>
          <a:p xmlns:a="http://schemas.openxmlformats.org/drawingml/2006/main">
            <a:pPr algn="l">
              <a:lnSpc>
                <a:spcPct val="98000"/>
              </a:lnSpc>
              <a:buNone/>
              <a:defRPr sz="4650" b="1">
                <a:solidFill>
                  <a:srgbClr val="FFFFFF"/>
                </a:solidFill>
                <a:latin typeface="Arial"/>
                <a:ea typeface="Arial"/>
                <a:cs typeface="Arial"/>
              </a:defRPr>
            </a:pPr>
            <a:r>
              <a:rPr sz="4650" b="1">
                <a:solidFill>
                  <a:srgbClr val="FFFFFF"/>
                </a:solidFill>
                <a:latin typeface="Arial"/>
                <a:ea typeface="Arial"/>
                <a:cs typeface="Arial"/>
              </a:rPr>
              <a:t>&amp; Disaster Management</a:t>
            </a:r>
          </a:p>
        </p:txBody>
      </p:sp>
      <p:sp>
        <p:nvSpPr>
          <p:cNvPr id="2" name="subtitle">
            <a:extLst xmlns:a="http://schemas.openxmlformats.org/drawingml/2006/main">
              <a:ext uri="{FF2B5EF4-FFF2-40B4-BE49-F238E27FC236}">
                <a16:creationId xmlns:a16="http://schemas.microsoft.com/office/drawing/2014/main" id="{03BA9BCD-A319-46B0-A8CC-9E5BEEC055E8}"/>
              </a:ext>
            </a:extLst>
          </p:cNvPr>
          <p:cNvSpPr>
            <a:spLocks xmlns:a="http://schemas.openxmlformats.org/drawingml/2006/main" noGrp="1"/>
          </p:cNvSpPr>
          <p:nvPr/>
        </p:nvSpPr>
        <p:spPr>
          <a:xfrm xmlns:a="http://schemas.openxmlformats.org/drawingml/2006/main">
            <a:off x="819150" y="3543300"/>
            <a:ext cx="9525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75" b="0">
                <a:solidFill>
                  <a:srgbClr val="C8D9E8"/>
                </a:solidFill>
                <a:latin typeface="Arial"/>
                <a:ea typeface="Arial"/>
                <a:cs typeface="Arial"/>
              </a:defRPr>
            </a:defPPr>
          </a:lstStyle>
          <a:p xmlns:a="http://schemas.openxmlformats.org/drawingml/2006/main">
            <a:pPr algn="l">
              <a:lnSpc>
                <a:spcPct val="108000"/>
              </a:lnSpc>
              <a:buNone/>
              <a:defRPr sz="1875" b="0">
                <a:solidFill>
                  <a:srgbClr val="C8D9E8"/>
                </a:solidFill>
                <a:latin typeface="Arial"/>
                <a:ea typeface="Arial"/>
                <a:cs typeface="Arial"/>
              </a:defRPr>
            </a:pPr>
            <a:r>
              <a:rPr sz="1875" b="0">
                <a:solidFill>
                  <a:srgbClr val="C8D9E8"/>
                </a:solidFill>
                <a:latin typeface="Arial"/>
                <a:ea typeface="Arial"/>
                <a:cs typeface="Arial"/>
              </a:rPr>
              <a:t>Portfolio project. Local synthetic-data demonstration.</a:t>
            </a:r>
          </a:p>
        </p:txBody>
      </p:sp>
      <p:sp>
        <p:nvSpPr>
          <p:cNvPr id="3" name="stack">
            <a:extLst xmlns:a="http://schemas.openxmlformats.org/drawingml/2006/main">
              <a:ext uri="{FF2B5EF4-FFF2-40B4-BE49-F238E27FC236}">
                <a16:creationId xmlns:a16="http://schemas.microsoft.com/office/drawing/2014/main" id="{8B37D051-3C31-4D2E-B8C4-7629C6B26C04}"/>
              </a:ext>
            </a:extLst>
          </p:cNvPr>
          <p:cNvSpPr>
            <a:spLocks xmlns:a="http://schemas.openxmlformats.org/drawingml/2006/main" noGrp="1"/>
          </p:cNvSpPr>
          <p:nvPr/>
        </p:nvSpPr>
        <p:spPr>
          <a:xfrm xmlns:a="http://schemas.openxmlformats.org/drawingml/2006/main">
            <a:off x="819150" y="4171950"/>
            <a:ext cx="904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75" b="0">
                <a:solidFill>
                  <a:srgbClr val="AFC7DA"/>
                </a:solidFill>
                <a:latin typeface="Arial"/>
                <a:ea typeface="Arial"/>
                <a:cs typeface="Arial"/>
              </a:defRPr>
            </a:defPPr>
          </a:lstStyle>
          <a:p xmlns:a="http://schemas.openxmlformats.org/drawingml/2006/main">
            <a:pPr algn="l">
              <a:lnSpc>
                <a:spcPct val="108000"/>
              </a:lnSpc>
              <a:buNone/>
              <a:defRPr sz="1575" b="0">
                <a:solidFill>
                  <a:srgbClr val="AFC7DA"/>
                </a:solidFill>
                <a:latin typeface="Arial"/>
                <a:ea typeface="Arial"/>
                <a:cs typeface="Arial"/>
              </a:defRPr>
            </a:pPr>
            <a:r>
              <a:rPr sz="1575" b="0">
                <a:solidFill>
                  <a:srgbClr val="AFC7DA"/>
                </a:solidFill>
                <a:latin typeface="Arial"/>
                <a:ea typeface="Arial"/>
                <a:cs typeface="Arial"/>
              </a:rPr>
              <a:t>.NET 10, ASP.NET Core, SQL Server</a:t>
            </a:r>
          </a:p>
        </p:txBody>
      </p:sp>
      <p:sp>
        <p:nvSpPr>
          <p:cNvPr id="4" name="scope">
            <a:extLst xmlns:a="http://schemas.openxmlformats.org/drawingml/2006/main">
              <a:ext uri="{FF2B5EF4-FFF2-40B4-BE49-F238E27FC236}">
                <a16:creationId xmlns:a16="http://schemas.microsoft.com/office/drawing/2014/main" id="{D025AFC7-C32F-4835-B417-EA9D7CB35852}"/>
              </a:ext>
            </a:extLst>
          </p:cNvPr>
          <p:cNvSpPr>
            <a:spLocks xmlns:a="http://schemas.openxmlformats.org/drawingml/2006/main" noGrp="1"/>
          </p:cNvSpPr>
          <p:nvPr/>
        </p:nvSpPr>
        <p:spPr>
          <a:xfrm xmlns:a="http://schemas.openxmlformats.org/drawingml/2006/main">
            <a:off x="819150" y="5867400"/>
            <a:ext cx="1009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a:solidFill>
                  <a:srgbClr val="FFFFFF"/>
                </a:solidFill>
                <a:latin typeface="Arial"/>
                <a:ea typeface="Arial"/>
                <a:cs typeface="Arial"/>
              </a:defRPr>
            </a:defPPr>
          </a:lstStyle>
          <a:p xmlns:a="http://schemas.openxmlformats.org/drawingml/2006/main">
            <a:pPr algn="l">
              <a:lnSpc>
                <a:spcPct val="108000"/>
              </a:lnSpc>
              <a:buNone/>
              <a:defRPr sz="1350" b="0">
                <a:solidFill>
                  <a:srgbClr val="FFFFFF"/>
                </a:solidFill>
                <a:latin typeface="Arial"/>
                <a:ea typeface="Arial"/>
                <a:cs typeface="Arial"/>
              </a:defRPr>
            </a:pPr>
            <a:r>
              <a:rPr sz="1350" b="0">
                <a:solidFill>
                  <a:srgbClr val="FFFFFF"/>
                </a:solidFill>
                <a:latin typeface="Arial"/>
                <a:ea typeface="Arial"/>
                <a:cs typeface="Arial"/>
              </a:rPr>
              <a:t>Engineering demonstration only. Not an operational emergency service.</a:t>
            </a:r>
          </a:p>
        </p:txBody>
      </p:sp>
    </p:spTree>
    <p:extLst>
      <p:ext uri="{BB962C8B-B14F-4D97-AF65-F5344CB8AC3E}">
        <p14:creationId xmlns:p14="http://schemas.microsoft.com/office/powerpoint/2010/main" val="863088302"/>
      </p:ext>
    </p:extLst>
  </p:cSld>
</p:sld>
</file>

<file path=ppt/slides/slide2.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7" name="slide-kicker">
            <a:extLst xmlns:a="http://schemas.openxmlformats.org/drawingml/2006/main">
              <a:ext uri="{FF2B5EF4-FFF2-40B4-BE49-F238E27FC236}">
                <a16:creationId xmlns:a16="http://schemas.microsoft.com/office/drawing/2014/main" id="{E0139EB9-28DA-4777-913A-F0731239B6BA}"/>
              </a:ext>
            </a:extLst>
          </p:cNvPr>
          <p:cNvSpPr>
            <a:spLocks xmlns:a="http://schemas.openxmlformats.org/drawingml/2006/main" noGrp="1"/>
          </p:cNvSpPr>
          <p:nvPr/>
        </p:nvSpPr>
        <p:spPr>
          <a:xfrm xmlns:a="http://schemas.openxmlformats.org/drawingml/2006/main">
            <a:off x="552450" y="323850"/>
            <a:ext cx="647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050" b="1">
                <a:solidFill>
                  <a:srgbClr val="147D78"/>
                </a:solidFill>
                <a:latin typeface="Arial"/>
                <a:ea typeface="Arial"/>
                <a:cs typeface="Arial"/>
              </a:defRPr>
            </a:defPPr>
          </a:lstStyle>
          <a:p xmlns:a="http://schemas.openxmlformats.org/drawingml/2006/main">
            <a:pPr algn="l">
              <a:lnSpc>
                <a:spcPct val="108000"/>
              </a:lnSpc>
              <a:buNone/>
              <a:defRPr sz="1050" b="1">
                <a:solidFill>
                  <a:srgbClr val="147D78"/>
                </a:solidFill>
                <a:latin typeface="Arial"/>
                <a:ea typeface="Arial"/>
                <a:cs typeface="Arial"/>
              </a:defRPr>
            </a:pPr>
            <a:r>
              <a:rPr sz="1050" b="1">
                <a:solidFill>
                  <a:srgbClr val="147D78"/>
                </a:solidFill>
                <a:latin typeface="Arial"/>
                <a:ea typeface="Arial"/>
                <a:cs typeface="Arial"/>
              </a:rPr>
              <a:t>AI EMERGENCY RESPONSE</a:t>
            </a:r>
          </a:p>
        </p:txBody>
      </p:sp>
      <p:sp>
        <p:nvSpPr>
          <p:cNvPr id="2" name="slide-title">
            <a:extLst xmlns:a="http://schemas.openxmlformats.org/drawingml/2006/main">
              <a:ext uri="{FF2B5EF4-FFF2-40B4-BE49-F238E27FC236}">
                <a16:creationId xmlns:a16="http://schemas.microsoft.com/office/drawing/2014/main" id="{B2F7AE8D-AD02-4E18-89B8-AD57B62316C3}"/>
              </a:ext>
            </a:extLst>
          </p:cNvPr>
          <p:cNvSpPr>
            <a:spLocks xmlns:a="http://schemas.openxmlformats.org/drawingml/2006/main" noGrp="1"/>
          </p:cNvSpPr>
          <p:nvPr/>
        </p:nvSpPr>
        <p:spPr>
          <a:xfrm xmlns:a="http://schemas.openxmlformats.org/drawingml/2006/main">
            <a:off x="552450" y="685800"/>
            <a:ext cx="11049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150" b="1">
                <a:solidFill>
                  <a:srgbClr val="102A43"/>
                </a:solidFill>
                <a:latin typeface="Arial"/>
                <a:ea typeface="Arial"/>
                <a:cs typeface="Arial"/>
              </a:defRPr>
            </a:defPPr>
          </a:lstStyle>
          <a:p xmlns:a="http://schemas.openxmlformats.org/drawingml/2006/main">
            <a:pPr algn="l">
              <a:lnSpc>
                <a:spcPct val="108000"/>
              </a:lnSpc>
              <a:buNone/>
              <a:defRPr sz="3150" b="1">
                <a:solidFill>
                  <a:srgbClr val="102A43"/>
                </a:solidFill>
                <a:latin typeface="Arial"/>
                <a:ea typeface="Arial"/>
                <a:cs typeface="Arial"/>
              </a:defRPr>
            </a:pPr>
            <a:r>
              <a:rPr sz="3150" b="1">
                <a:solidFill>
                  <a:srgbClr val="102A43"/>
                </a:solidFill>
                <a:latin typeface="Arial"/>
                <a:ea typeface="Arial"/>
                <a:cs typeface="Arial"/>
              </a:rPr>
              <a:t>Emergency operations workflow</a:t>
            </a:r>
          </a:p>
        </p:txBody>
      </p:sp>
      <p:sp>
        <p:nvSpPr>
          <p:cNvPr id="3" name="slide-number">
            <a:extLst xmlns:a="http://schemas.openxmlformats.org/drawingml/2006/main">
              <a:ext uri="{FF2B5EF4-FFF2-40B4-BE49-F238E27FC236}">
                <a16:creationId xmlns:a16="http://schemas.microsoft.com/office/drawing/2014/main" id="{1DB47392-0156-4552-89C7-5A884ACDFDA5}"/>
              </a:ext>
            </a:extLst>
          </p:cNvPr>
          <p:cNvSpPr>
            <a:spLocks xmlns:a="http://schemas.openxmlformats.org/drawingml/2006/main" noGrp="1"/>
          </p:cNvSpPr>
          <p:nvPr/>
        </p:nvSpPr>
        <p:spPr>
          <a:xfrm xmlns:a="http://schemas.openxmlformats.org/drawingml/2006/main">
            <a:off x="11163300" y="64008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1050" b="0">
                <a:solidFill>
                  <a:srgbClr val="526475"/>
                </a:solidFill>
                <a:latin typeface="Arial"/>
                <a:ea typeface="Arial"/>
                <a:cs typeface="Arial"/>
              </a:defRPr>
            </a:defPPr>
          </a:lstStyle>
          <a:p xmlns:a="http://schemas.openxmlformats.org/drawingml/2006/main">
            <a:pPr algn="r">
              <a:lnSpc>
                <a:spcPct val="108000"/>
              </a:lnSpc>
              <a:buNone/>
              <a:defRPr sz="1050" b="0">
                <a:solidFill>
                  <a:srgbClr val="526475"/>
                </a:solidFill>
                <a:latin typeface="Arial"/>
                <a:ea typeface="Arial"/>
                <a:cs typeface="Arial"/>
              </a:defRPr>
            </a:pPr>
            <a:r>
              <a:rPr sz="1050" b="0">
                <a:solidFill>
                  <a:srgbClr val="526475"/>
                </a:solidFill>
                <a:latin typeface="Arial"/>
                <a:ea typeface="Arial"/>
                <a:cs typeface="Arial"/>
              </a:rPr>
              <a:t>02</a:t>
            </a:r>
          </a:p>
        </p:txBody>
      </p:sp>
      <p:sp>
        <p:nvSpPr>
          <p:cNvPr id="4" name="step-01">
            <a:extLst xmlns:a="http://schemas.openxmlformats.org/drawingml/2006/main">
              <a:ext uri="{FF2B5EF4-FFF2-40B4-BE49-F238E27FC236}">
                <a16:creationId xmlns:a16="http://schemas.microsoft.com/office/drawing/2014/main" id="{281A78F3-7539-40C1-BDB3-C9BA7BFCA19C}"/>
              </a:ext>
            </a:extLst>
          </p:cNvPr>
          <p:cNvSpPr>
            <a:spLocks xmlns:a="http://schemas.openxmlformats.org/drawingml/2006/main" noGrp="1"/>
          </p:cNvSpPr>
          <p:nvPr/>
        </p:nvSpPr>
        <p:spPr>
          <a:xfrm xmlns:a="http://schemas.openxmlformats.org/drawingml/2006/main">
            <a:off x="723900" y="1581150"/>
            <a:ext cx="647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325" b="1">
                <a:solidFill>
                  <a:srgbClr val="147D78"/>
                </a:solidFill>
                <a:latin typeface="Arial"/>
                <a:ea typeface="Arial"/>
                <a:cs typeface="Arial"/>
              </a:defRPr>
            </a:defPPr>
          </a:lstStyle>
          <a:p xmlns:a="http://schemas.openxmlformats.org/drawingml/2006/main">
            <a:pPr algn="l">
              <a:lnSpc>
                <a:spcPct val="108000"/>
              </a:lnSpc>
              <a:buNone/>
              <a:defRPr sz="2325" b="1">
                <a:solidFill>
                  <a:srgbClr val="147D78"/>
                </a:solidFill>
                <a:latin typeface="Arial"/>
                <a:ea typeface="Arial"/>
                <a:cs typeface="Arial"/>
              </a:defRPr>
            </a:pPr>
            <a:r>
              <a:rPr sz="2325" b="1">
                <a:solidFill>
                  <a:srgbClr val="147D78"/>
                </a:solidFill>
                <a:latin typeface="Arial"/>
                <a:ea typeface="Arial"/>
                <a:cs typeface="Arial"/>
              </a:rPr>
              <a:t>01</a:t>
            </a:r>
          </a:p>
        </p:txBody>
      </p:sp>
      <p:sp>
        <p:nvSpPr>
          <p:cNvPr id="5" name="heading-01">
            <a:extLst xmlns:a="http://schemas.openxmlformats.org/drawingml/2006/main">
              <a:ext uri="{FF2B5EF4-FFF2-40B4-BE49-F238E27FC236}">
                <a16:creationId xmlns:a16="http://schemas.microsoft.com/office/drawing/2014/main" id="{3A642497-3776-4B6E-BB2D-93A70716D11E}"/>
              </a:ext>
            </a:extLst>
          </p:cNvPr>
          <p:cNvSpPr>
            <a:spLocks xmlns:a="http://schemas.openxmlformats.org/drawingml/2006/main" noGrp="1"/>
          </p:cNvSpPr>
          <p:nvPr/>
        </p:nvSpPr>
        <p:spPr>
          <a:xfrm xmlns:a="http://schemas.openxmlformats.org/drawingml/2006/main">
            <a:off x="1638300" y="158115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025" b="1">
                <a:solidFill>
                  <a:srgbClr val="102A43"/>
                </a:solidFill>
                <a:latin typeface="Arial"/>
                <a:ea typeface="Arial"/>
                <a:cs typeface="Arial"/>
              </a:defRPr>
            </a:defPPr>
          </a:lstStyle>
          <a:p xmlns:a="http://schemas.openxmlformats.org/drawingml/2006/main">
            <a:pPr algn="l">
              <a:lnSpc>
                <a:spcPct val="108000"/>
              </a:lnSpc>
              <a:buNone/>
              <a:defRPr sz="2025" b="1">
                <a:solidFill>
                  <a:srgbClr val="102A43"/>
                </a:solidFill>
                <a:latin typeface="Arial"/>
                <a:ea typeface="Arial"/>
                <a:cs typeface="Arial"/>
              </a:defRPr>
            </a:pPr>
            <a:r>
              <a:rPr sz="2025" b="1">
                <a:solidFill>
                  <a:srgbClr val="102A43"/>
                </a:solidFill>
                <a:latin typeface="Arial"/>
                <a:ea typeface="Arial"/>
                <a:cs typeface="Arial"/>
              </a:rPr>
              <a:t>Report</a:t>
            </a:r>
          </a:p>
        </p:txBody>
      </p:sp>
      <p:sp>
        <p:nvSpPr>
          <p:cNvPr id="6" name="body-01">
            <a:extLst xmlns:a="http://schemas.openxmlformats.org/drawingml/2006/main">
              <a:ext uri="{FF2B5EF4-FFF2-40B4-BE49-F238E27FC236}">
                <a16:creationId xmlns:a16="http://schemas.microsoft.com/office/drawing/2014/main" id="{C0843B90-2C00-4629-9373-2B18A588AD38}"/>
              </a:ext>
            </a:extLst>
          </p:cNvPr>
          <p:cNvSpPr>
            <a:spLocks xmlns:a="http://schemas.openxmlformats.org/drawingml/2006/main" noGrp="1"/>
          </p:cNvSpPr>
          <p:nvPr/>
        </p:nvSpPr>
        <p:spPr>
          <a:xfrm xmlns:a="http://schemas.openxmlformats.org/drawingml/2006/main">
            <a:off x="3733800" y="1581150"/>
            <a:ext cx="7524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0">
                <a:solidFill>
                  <a:srgbClr val="172B3A"/>
                </a:solidFill>
                <a:latin typeface="Arial"/>
                <a:ea typeface="Arial"/>
                <a:cs typeface="Arial"/>
              </a:defRPr>
            </a:defPPr>
          </a:lstStyle>
          <a:p xmlns:a="http://schemas.openxmlformats.org/drawingml/2006/main">
            <a:pPr algn="l">
              <a:lnSpc>
                <a:spcPct val="108000"/>
              </a:lnSpc>
              <a:buNone/>
              <a:defRPr sz="1725" b="0">
                <a:solidFill>
                  <a:srgbClr val="172B3A"/>
                </a:solidFill>
                <a:latin typeface="Arial"/>
                <a:ea typeface="Arial"/>
                <a:cs typeface="Arial"/>
              </a:defRPr>
            </a:pPr>
            <a:r>
              <a:rPr sz="1725" b="0">
                <a:solidFill>
                  <a:srgbClr val="172B3A"/>
                </a:solidFill>
                <a:latin typeface="Arial"/>
                <a:ea typeface="Arial"/>
                <a:cs typeface="Arial"/>
              </a:rPr>
              <a:t>A resident submits an incident report with location and reported facts.</a:t>
            </a:r>
          </a:p>
        </p:txBody>
      </p:sp>
      <p:sp>
        <p:nvSpPr>
          <p:cNvPr id="7" name="step-02">
            <a:extLst xmlns:a="http://schemas.openxmlformats.org/drawingml/2006/main">
              <a:ext uri="{FF2B5EF4-FFF2-40B4-BE49-F238E27FC236}">
                <a16:creationId xmlns:a16="http://schemas.microsoft.com/office/drawing/2014/main" id="{603DE877-D8BE-4867-8C3E-1A5BEA2D5E5A}"/>
              </a:ext>
            </a:extLst>
          </p:cNvPr>
          <p:cNvSpPr>
            <a:spLocks xmlns:a="http://schemas.openxmlformats.org/drawingml/2006/main" noGrp="1"/>
          </p:cNvSpPr>
          <p:nvPr/>
        </p:nvSpPr>
        <p:spPr>
          <a:xfrm xmlns:a="http://schemas.openxmlformats.org/drawingml/2006/main">
            <a:off x="723900" y="2667000"/>
            <a:ext cx="647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325" b="1">
                <a:solidFill>
                  <a:srgbClr val="147D78"/>
                </a:solidFill>
                <a:latin typeface="Arial"/>
                <a:ea typeface="Arial"/>
                <a:cs typeface="Arial"/>
              </a:defRPr>
            </a:defPPr>
          </a:lstStyle>
          <a:p xmlns:a="http://schemas.openxmlformats.org/drawingml/2006/main">
            <a:pPr algn="l">
              <a:lnSpc>
                <a:spcPct val="108000"/>
              </a:lnSpc>
              <a:buNone/>
              <a:defRPr sz="2325" b="1">
                <a:solidFill>
                  <a:srgbClr val="147D78"/>
                </a:solidFill>
                <a:latin typeface="Arial"/>
                <a:ea typeface="Arial"/>
                <a:cs typeface="Arial"/>
              </a:defRPr>
            </a:pPr>
            <a:r>
              <a:rPr sz="2325" b="1">
                <a:solidFill>
                  <a:srgbClr val="147D78"/>
                </a:solidFill>
                <a:latin typeface="Arial"/>
                <a:ea typeface="Arial"/>
                <a:cs typeface="Arial"/>
              </a:rPr>
              <a:t>02</a:t>
            </a:r>
          </a:p>
        </p:txBody>
      </p:sp>
      <p:sp>
        <p:nvSpPr>
          <p:cNvPr id="8" name="heading-02">
            <a:extLst xmlns:a="http://schemas.openxmlformats.org/drawingml/2006/main">
              <a:ext uri="{FF2B5EF4-FFF2-40B4-BE49-F238E27FC236}">
                <a16:creationId xmlns:a16="http://schemas.microsoft.com/office/drawing/2014/main" id="{FB434DE0-9E78-4870-A754-61F6F31CBED3}"/>
              </a:ext>
            </a:extLst>
          </p:cNvPr>
          <p:cNvSpPr>
            <a:spLocks xmlns:a="http://schemas.openxmlformats.org/drawingml/2006/main" noGrp="1"/>
          </p:cNvSpPr>
          <p:nvPr/>
        </p:nvSpPr>
        <p:spPr>
          <a:xfrm xmlns:a="http://schemas.openxmlformats.org/drawingml/2006/main">
            <a:off x="1638300" y="266700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025" b="1">
                <a:solidFill>
                  <a:srgbClr val="102A43"/>
                </a:solidFill>
                <a:latin typeface="Arial"/>
                <a:ea typeface="Arial"/>
                <a:cs typeface="Arial"/>
              </a:defRPr>
            </a:defPPr>
          </a:lstStyle>
          <a:p xmlns:a="http://schemas.openxmlformats.org/drawingml/2006/main">
            <a:pPr algn="l">
              <a:lnSpc>
                <a:spcPct val="108000"/>
              </a:lnSpc>
              <a:buNone/>
              <a:defRPr sz="2025" b="1">
                <a:solidFill>
                  <a:srgbClr val="102A43"/>
                </a:solidFill>
                <a:latin typeface="Arial"/>
                <a:ea typeface="Arial"/>
                <a:cs typeface="Arial"/>
              </a:defRPr>
            </a:pPr>
            <a:r>
              <a:rPr sz="2025" b="1">
                <a:solidFill>
                  <a:srgbClr val="102A43"/>
                </a:solidFill>
                <a:latin typeface="Arial"/>
                <a:ea typeface="Arial"/>
                <a:cs typeface="Arial"/>
              </a:rPr>
              <a:t>Review</a:t>
            </a:r>
          </a:p>
        </p:txBody>
      </p:sp>
      <p:sp>
        <p:nvSpPr>
          <p:cNvPr id="9" name="body-02">
            <a:extLst xmlns:a="http://schemas.openxmlformats.org/drawingml/2006/main">
              <a:ext uri="{FF2B5EF4-FFF2-40B4-BE49-F238E27FC236}">
                <a16:creationId xmlns:a16="http://schemas.microsoft.com/office/drawing/2014/main" id="{78E13D9D-CDAE-43B0-9382-8FA0BBFED406}"/>
              </a:ext>
            </a:extLst>
          </p:cNvPr>
          <p:cNvSpPr>
            <a:spLocks xmlns:a="http://schemas.openxmlformats.org/drawingml/2006/main" noGrp="1"/>
          </p:cNvSpPr>
          <p:nvPr/>
        </p:nvSpPr>
        <p:spPr>
          <a:xfrm xmlns:a="http://schemas.openxmlformats.org/drawingml/2006/main">
            <a:off x="3733800" y="2667000"/>
            <a:ext cx="7524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0">
                <a:solidFill>
                  <a:srgbClr val="172B3A"/>
                </a:solidFill>
                <a:latin typeface="Arial"/>
                <a:ea typeface="Arial"/>
                <a:cs typeface="Arial"/>
              </a:defRPr>
            </a:defPPr>
          </a:lstStyle>
          <a:p xmlns:a="http://schemas.openxmlformats.org/drawingml/2006/main">
            <a:pPr algn="l">
              <a:lnSpc>
                <a:spcPct val="108000"/>
              </a:lnSpc>
              <a:buNone/>
              <a:defRPr sz="1725" b="0">
                <a:solidFill>
                  <a:srgbClr val="172B3A"/>
                </a:solidFill>
                <a:latin typeface="Arial"/>
                <a:ea typeface="Arial"/>
                <a:cs typeface="Arial"/>
              </a:defRPr>
            </a:pPr>
            <a:r>
              <a:rPr sz="1725" b="0">
                <a:solidFill>
                  <a:srgbClr val="172B3A"/>
                </a:solidFill>
                <a:latin typeface="Arial"/>
                <a:ea typeface="Arial"/>
                <a:cs typeface="Arial"/>
              </a:rPr>
              <a:t>Authorized staff inspect status, impact, related reports, and unknowns.</a:t>
            </a:r>
          </a:p>
        </p:txBody>
      </p:sp>
      <p:sp>
        <p:nvSpPr>
          <p:cNvPr id="10" name="step-03">
            <a:extLst xmlns:a="http://schemas.openxmlformats.org/drawingml/2006/main">
              <a:ext uri="{FF2B5EF4-FFF2-40B4-BE49-F238E27FC236}">
                <a16:creationId xmlns:a16="http://schemas.microsoft.com/office/drawing/2014/main" id="{E5A0B281-687C-48F0-8D4E-6FE6520813C7}"/>
              </a:ext>
            </a:extLst>
          </p:cNvPr>
          <p:cNvSpPr>
            <a:spLocks xmlns:a="http://schemas.openxmlformats.org/drawingml/2006/main" noGrp="1"/>
          </p:cNvSpPr>
          <p:nvPr/>
        </p:nvSpPr>
        <p:spPr>
          <a:xfrm xmlns:a="http://schemas.openxmlformats.org/drawingml/2006/main">
            <a:off x="723900" y="3752850"/>
            <a:ext cx="647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325" b="1">
                <a:solidFill>
                  <a:srgbClr val="147D78"/>
                </a:solidFill>
                <a:latin typeface="Arial"/>
                <a:ea typeface="Arial"/>
                <a:cs typeface="Arial"/>
              </a:defRPr>
            </a:defPPr>
          </a:lstStyle>
          <a:p xmlns:a="http://schemas.openxmlformats.org/drawingml/2006/main">
            <a:pPr algn="l">
              <a:lnSpc>
                <a:spcPct val="108000"/>
              </a:lnSpc>
              <a:buNone/>
              <a:defRPr sz="2325" b="1">
                <a:solidFill>
                  <a:srgbClr val="147D78"/>
                </a:solidFill>
                <a:latin typeface="Arial"/>
                <a:ea typeface="Arial"/>
                <a:cs typeface="Arial"/>
              </a:defRPr>
            </a:pPr>
            <a:r>
              <a:rPr sz="2325" b="1">
                <a:solidFill>
                  <a:srgbClr val="147D78"/>
                </a:solidFill>
                <a:latin typeface="Arial"/>
                <a:ea typeface="Arial"/>
                <a:cs typeface="Arial"/>
              </a:rPr>
              <a:t>03</a:t>
            </a:r>
          </a:p>
        </p:txBody>
      </p:sp>
      <p:sp>
        <p:nvSpPr>
          <p:cNvPr id="11" name="heading-03">
            <a:extLst xmlns:a="http://schemas.openxmlformats.org/drawingml/2006/main">
              <a:ext uri="{FF2B5EF4-FFF2-40B4-BE49-F238E27FC236}">
                <a16:creationId xmlns:a16="http://schemas.microsoft.com/office/drawing/2014/main" id="{FF355BC8-AA9D-457B-8C5B-C643154B7BC8}"/>
              </a:ext>
            </a:extLst>
          </p:cNvPr>
          <p:cNvSpPr>
            <a:spLocks xmlns:a="http://schemas.openxmlformats.org/drawingml/2006/main" noGrp="1"/>
          </p:cNvSpPr>
          <p:nvPr/>
        </p:nvSpPr>
        <p:spPr>
          <a:xfrm xmlns:a="http://schemas.openxmlformats.org/drawingml/2006/main">
            <a:off x="1638300" y="375285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025" b="1">
                <a:solidFill>
                  <a:srgbClr val="102A43"/>
                </a:solidFill>
                <a:latin typeface="Arial"/>
                <a:ea typeface="Arial"/>
                <a:cs typeface="Arial"/>
              </a:defRPr>
            </a:defPPr>
          </a:lstStyle>
          <a:p xmlns:a="http://schemas.openxmlformats.org/drawingml/2006/main">
            <a:pPr algn="l">
              <a:lnSpc>
                <a:spcPct val="108000"/>
              </a:lnSpc>
              <a:buNone/>
              <a:defRPr sz="2025" b="1">
                <a:solidFill>
                  <a:srgbClr val="102A43"/>
                </a:solidFill>
                <a:latin typeface="Arial"/>
                <a:ea typeface="Arial"/>
                <a:cs typeface="Arial"/>
              </a:defRPr>
            </a:pPr>
            <a:r>
              <a:rPr sz="2025" b="1">
                <a:solidFill>
                  <a:srgbClr val="102A43"/>
                </a:solidFill>
                <a:latin typeface="Arial"/>
                <a:ea typeface="Arial"/>
                <a:cs typeface="Arial"/>
              </a:rPr>
              <a:t>Coordinate</a:t>
            </a:r>
          </a:p>
        </p:txBody>
      </p:sp>
      <p:sp>
        <p:nvSpPr>
          <p:cNvPr id="12" name="body-03">
            <a:extLst xmlns:a="http://schemas.openxmlformats.org/drawingml/2006/main">
              <a:ext uri="{FF2B5EF4-FFF2-40B4-BE49-F238E27FC236}">
                <a16:creationId xmlns:a16="http://schemas.microsoft.com/office/drawing/2014/main" id="{23EE5E55-2D5A-4C31-A798-AA68A7ECB97A}"/>
              </a:ext>
            </a:extLst>
          </p:cNvPr>
          <p:cNvSpPr>
            <a:spLocks xmlns:a="http://schemas.openxmlformats.org/drawingml/2006/main" noGrp="1"/>
          </p:cNvSpPr>
          <p:nvPr/>
        </p:nvSpPr>
        <p:spPr>
          <a:xfrm xmlns:a="http://schemas.openxmlformats.org/drawingml/2006/main">
            <a:off x="3733800" y="3752850"/>
            <a:ext cx="7524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0">
                <a:solidFill>
                  <a:srgbClr val="172B3A"/>
                </a:solidFill>
                <a:latin typeface="Arial"/>
                <a:ea typeface="Arial"/>
                <a:cs typeface="Arial"/>
              </a:defRPr>
            </a:defPPr>
          </a:lstStyle>
          <a:p xmlns:a="http://schemas.openxmlformats.org/drawingml/2006/main">
            <a:pPr algn="l">
              <a:lnSpc>
                <a:spcPct val="108000"/>
              </a:lnSpc>
              <a:buNone/>
              <a:defRPr sz="1725" b="0">
                <a:solidFill>
                  <a:srgbClr val="172B3A"/>
                </a:solidFill>
                <a:latin typeface="Arial"/>
                <a:ea typeface="Arial"/>
                <a:cs typeface="Arial"/>
              </a:defRPr>
            </a:pPr>
            <a:r>
              <a:rPr sz="1725" b="0">
                <a:solidFill>
                  <a:srgbClr val="172B3A"/>
                </a:solidFill>
                <a:latin typeface="Arial"/>
                <a:ea typeface="Arial"/>
                <a:cs typeface="Arial"/>
              </a:rPr>
              <a:t>Dashboard, map, and resource views provide operational context.</a:t>
            </a:r>
          </a:p>
        </p:txBody>
      </p:sp>
      <p:sp>
        <p:nvSpPr>
          <p:cNvPr id="13" name="step-04">
            <a:extLst xmlns:a="http://schemas.openxmlformats.org/drawingml/2006/main">
              <a:ext uri="{FF2B5EF4-FFF2-40B4-BE49-F238E27FC236}">
                <a16:creationId xmlns:a16="http://schemas.microsoft.com/office/drawing/2014/main" id="{DB1A09AA-496A-4311-84CC-A9180E0342B9}"/>
              </a:ext>
            </a:extLst>
          </p:cNvPr>
          <p:cNvSpPr>
            <a:spLocks xmlns:a="http://schemas.openxmlformats.org/drawingml/2006/main" noGrp="1"/>
          </p:cNvSpPr>
          <p:nvPr/>
        </p:nvSpPr>
        <p:spPr>
          <a:xfrm xmlns:a="http://schemas.openxmlformats.org/drawingml/2006/main">
            <a:off x="723900" y="4838700"/>
            <a:ext cx="647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325" b="1">
                <a:solidFill>
                  <a:srgbClr val="147D78"/>
                </a:solidFill>
                <a:latin typeface="Arial"/>
                <a:ea typeface="Arial"/>
                <a:cs typeface="Arial"/>
              </a:defRPr>
            </a:defPPr>
          </a:lstStyle>
          <a:p xmlns:a="http://schemas.openxmlformats.org/drawingml/2006/main">
            <a:pPr algn="l">
              <a:lnSpc>
                <a:spcPct val="108000"/>
              </a:lnSpc>
              <a:buNone/>
              <a:defRPr sz="2325" b="1">
                <a:solidFill>
                  <a:srgbClr val="147D78"/>
                </a:solidFill>
                <a:latin typeface="Arial"/>
                <a:ea typeface="Arial"/>
                <a:cs typeface="Arial"/>
              </a:defRPr>
            </a:pPr>
            <a:r>
              <a:rPr sz="2325" b="1">
                <a:solidFill>
                  <a:srgbClr val="147D78"/>
                </a:solidFill>
                <a:latin typeface="Arial"/>
                <a:ea typeface="Arial"/>
                <a:cs typeface="Arial"/>
              </a:rPr>
              <a:t>04</a:t>
            </a:r>
          </a:p>
        </p:txBody>
      </p:sp>
      <p:sp>
        <p:nvSpPr>
          <p:cNvPr id="14" name="heading-04">
            <a:extLst xmlns:a="http://schemas.openxmlformats.org/drawingml/2006/main">
              <a:ext uri="{FF2B5EF4-FFF2-40B4-BE49-F238E27FC236}">
                <a16:creationId xmlns:a16="http://schemas.microsoft.com/office/drawing/2014/main" id="{9A3C6C20-B203-41A5-B5AD-332AE8C5568E}"/>
              </a:ext>
            </a:extLst>
          </p:cNvPr>
          <p:cNvSpPr>
            <a:spLocks xmlns:a="http://schemas.openxmlformats.org/drawingml/2006/main" noGrp="1"/>
          </p:cNvSpPr>
          <p:nvPr/>
        </p:nvSpPr>
        <p:spPr>
          <a:xfrm xmlns:a="http://schemas.openxmlformats.org/drawingml/2006/main">
            <a:off x="1638300" y="483870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025" b="1">
                <a:solidFill>
                  <a:srgbClr val="102A43"/>
                </a:solidFill>
                <a:latin typeface="Arial"/>
                <a:ea typeface="Arial"/>
                <a:cs typeface="Arial"/>
              </a:defRPr>
            </a:defPPr>
          </a:lstStyle>
          <a:p xmlns:a="http://schemas.openxmlformats.org/drawingml/2006/main">
            <a:pPr algn="l">
              <a:lnSpc>
                <a:spcPct val="108000"/>
              </a:lnSpc>
              <a:buNone/>
              <a:defRPr sz="2025" b="1">
                <a:solidFill>
                  <a:srgbClr val="102A43"/>
                </a:solidFill>
                <a:latin typeface="Arial"/>
                <a:ea typeface="Arial"/>
                <a:cs typeface="Arial"/>
              </a:defRPr>
            </a:pPr>
            <a:r>
              <a:rPr sz="2025" b="1">
                <a:solidFill>
                  <a:srgbClr val="102A43"/>
                </a:solidFill>
                <a:latin typeface="Arial"/>
                <a:ea typeface="Arial"/>
                <a:cs typeface="Arial"/>
              </a:rPr>
              <a:t>Act</a:t>
            </a:r>
          </a:p>
        </p:txBody>
      </p:sp>
      <p:sp>
        <p:nvSpPr>
          <p:cNvPr id="15" name="body-04">
            <a:extLst xmlns:a="http://schemas.openxmlformats.org/drawingml/2006/main">
              <a:ext uri="{FF2B5EF4-FFF2-40B4-BE49-F238E27FC236}">
                <a16:creationId xmlns:a16="http://schemas.microsoft.com/office/drawing/2014/main" id="{7F8BFDB7-A6DB-4C2C-B44D-35BF89E43E30}"/>
              </a:ext>
            </a:extLst>
          </p:cNvPr>
          <p:cNvSpPr>
            <a:spLocks xmlns:a="http://schemas.openxmlformats.org/drawingml/2006/main" noGrp="1"/>
          </p:cNvSpPr>
          <p:nvPr/>
        </p:nvSpPr>
        <p:spPr>
          <a:xfrm xmlns:a="http://schemas.openxmlformats.org/drawingml/2006/main">
            <a:off x="3733800" y="4838700"/>
            <a:ext cx="7524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0">
                <a:solidFill>
                  <a:srgbClr val="172B3A"/>
                </a:solidFill>
                <a:latin typeface="Arial"/>
                <a:ea typeface="Arial"/>
                <a:cs typeface="Arial"/>
              </a:defRPr>
            </a:defPPr>
          </a:lstStyle>
          <a:p xmlns:a="http://schemas.openxmlformats.org/drawingml/2006/main">
            <a:pPr algn="l">
              <a:lnSpc>
                <a:spcPct val="108000"/>
              </a:lnSpc>
              <a:buNone/>
              <a:defRPr sz="1725" b="0">
                <a:solidFill>
                  <a:srgbClr val="172B3A"/>
                </a:solidFill>
                <a:latin typeface="Arial"/>
                <a:ea typeface="Arial"/>
                <a:cs typeface="Arial"/>
              </a:defRPr>
            </a:pPr>
            <a:r>
              <a:rPr sz="1725" b="0">
                <a:solidFill>
                  <a:srgbClr val="172B3A"/>
                </a:solidFill>
                <a:latin typeface="Arial"/>
                <a:ea typeface="Arial"/>
                <a:cs typeface="Arial"/>
              </a:rPr>
              <a:t>Human permissions govern commands. AI remains advisory.</a:t>
            </a:r>
          </a:p>
        </p:txBody>
      </p:sp>
      <p:sp>
        <p:nvSpPr>
          <p:cNvPr id="16" name="roles">
            <a:extLst xmlns:a="http://schemas.openxmlformats.org/drawingml/2006/main">
              <a:ext uri="{FF2B5EF4-FFF2-40B4-BE49-F238E27FC236}">
                <a16:creationId xmlns:a16="http://schemas.microsoft.com/office/drawing/2014/main" id="{4173DC30-0685-4A6E-95F3-9BA7F2F57554}"/>
              </a:ext>
            </a:extLst>
          </p:cNvPr>
          <p:cNvSpPr>
            <a:spLocks xmlns:a="http://schemas.openxmlformats.org/drawingml/2006/main" noGrp="1"/>
          </p:cNvSpPr>
          <p:nvPr/>
        </p:nvSpPr>
        <p:spPr>
          <a:xfrm xmlns:a="http://schemas.openxmlformats.org/drawingml/2006/main">
            <a:off x="742950" y="59436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a:solidFill>
                  <a:srgbClr val="526475"/>
                </a:solidFill>
                <a:latin typeface="Arial"/>
                <a:ea typeface="Arial"/>
                <a:cs typeface="Arial"/>
              </a:defRPr>
            </a:defPPr>
          </a:lstStyle>
          <a:p xmlns:a="http://schemas.openxmlformats.org/drawingml/2006/main">
            <a:pPr algn="l">
              <a:lnSpc>
                <a:spcPct val="108000"/>
              </a:lnSpc>
              <a:buNone/>
              <a:defRPr sz="1350" b="0">
                <a:solidFill>
                  <a:srgbClr val="526475"/>
                </a:solidFill>
                <a:latin typeface="Arial"/>
                <a:ea typeface="Arial"/>
                <a:cs typeface="Arial"/>
              </a:defRPr>
            </a:pPr>
            <a:r>
              <a:rPr sz="1350" b="0">
                <a:solidFill>
                  <a:srgbClr val="526475"/>
                </a:solidFill>
                <a:latin typeface="Arial"/>
                <a:ea typeface="Arial"/>
                <a:cs typeface="Arial"/>
              </a:rPr>
              <a:t>Citizens report. Responders and Operators review. EmergencyAdmin and SystemAdmin have higher-level controls.</a:t>
            </a:r>
          </a:p>
        </p:txBody>
      </p:sp>
    </p:spTree>
    <p:extLst>
      <p:ext uri="{BB962C8B-B14F-4D97-AF65-F5344CB8AC3E}">
        <p14:creationId xmlns:p14="http://schemas.microsoft.com/office/powerpoint/2010/main" val="277942830"/>
      </p:ext>
    </p:extLst>
  </p:cSld>
</p:sld>
</file>

<file path=ppt/slides/slide3.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7" name="slide-kicker">
            <a:extLst xmlns:a="http://schemas.openxmlformats.org/drawingml/2006/main">
              <a:ext uri="{FF2B5EF4-FFF2-40B4-BE49-F238E27FC236}">
                <a16:creationId xmlns:a16="http://schemas.microsoft.com/office/drawing/2014/main" id="{5A271F11-1D98-40F3-B388-C98483B0BBF6}"/>
              </a:ext>
            </a:extLst>
          </p:cNvPr>
          <p:cNvSpPr>
            <a:spLocks xmlns:a="http://schemas.openxmlformats.org/drawingml/2006/main" noGrp="1"/>
          </p:cNvSpPr>
          <p:nvPr/>
        </p:nvSpPr>
        <p:spPr>
          <a:xfrm xmlns:a="http://schemas.openxmlformats.org/drawingml/2006/main">
            <a:off x="552450" y="323850"/>
            <a:ext cx="647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050" b="1">
                <a:solidFill>
                  <a:srgbClr val="147D78"/>
                </a:solidFill>
                <a:latin typeface="Arial"/>
                <a:ea typeface="Arial"/>
                <a:cs typeface="Arial"/>
              </a:defRPr>
            </a:defPPr>
          </a:lstStyle>
          <a:p xmlns:a="http://schemas.openxmlformats.org/drawingml/2006/main">
            <a:pPr algn="l">
              <a:lnSpc>
                <a:spcPct val="108000"/>
              </a:lnSpc>
              <a:buNone/>
              <a:defRPr sz="1050" b="1">
                <a:solidFill>
                  <a:srgbClr val="147D78"/>
                </a:solidFill>
                <a:latin typeface="Arial"/>
                <a:ea typeface="Arial"/>
                <a:cs typeface="Arial"/>
              </a:defRPr>
            </a:pPr>
            <a:r>
              <a:rPr sz="1050" b="1">
                <a:solidFill>
                  <a:srgbClr val="147D78"/>
                </a:solidFill>
                <a:latin typeface="Arial"/>
                <a:ea typeface="Arial"/>
                <a:cs typeface="Arial"/>
              </a:rPr>
              <a:t>AI EMERGENCY RESPONSE</a:t>
            </a:r>
          </a:p>
        </p:txBody>
      </p:sp>
      <p:sp>
        <p:nvSpPr>
          <p:cNvPr id="2" name="slide-title">
            <a:extLst xmlns:a="http://schemas.openxmlformats.org/drawingml/2006/main">
              <a:ext uri="{FF2B5EF4-FFF2-40B4-BE49-F238E27FC236}">
                <a16:creationId xmlns:a16="http://schemas.microsoft.com/office/drawing/2014/main" id="{C27D4ADF-3871-48BD-B828-3452A4980108}"/>
              </a:ext>
            </a:extLst>
          </p:cNvPr>
          <p:cNvSpPr>
            <a:spLocks xmlns:a="http://schemas.openxmlformats.org/drawingml/2006/main" noGrp="1"/>
          </p:cNvSpPr>
          <p:nvPr/>
        </p:nvSpPr>
        <p:spPr>
          <a:xfrm xmlns:a="http://schemas.openxmlformats.org/drawingml/2006/main">
            <a:off x="552450" y="685800"/>
            <a:ext cx="11049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150" b="1">
                <a:solidFill>
                  <a:srgbClr val="102A43"/>
                </a:solidFill>
                <a:latin typeface="Arial"/>
                <a:ea typeface="Arial"/>
                <a:cs typeface="Arial"/>
              </a:defRPr>
            </a:defPPr>
          </a:lstStyle>
          <a:p xmlns:a="http://schemas.openxmlformats.org/drawingml/2006/main">
            <a:pPr algn="l">
              <a:lnSpc>
                <a:spcPct val="108000"/>
              </a:lnSpc>
              <a:buNone/>
              <a:defRPr sz="3150" b="1">
                <a:solidFill>
                  <a:srgbClr val="102A43"/>
                </a:solidFill>
                <a:latin typeface="Arial"/>
                <a:ea typeface="Arial"/>
                <a:cs typeface="Arial"/>
              </a:defRPr>
            </a:pPr>
            <a:r>
              <a:rPr sz="3150" b="1">
                <a:solidFill>
                  <a:srgbClr val="102A43"/>
                </a:solidFill>
                <a:latin typeface="Arial"/>
                <a:ea typeface="Arial"/>
                <a:cs typeface="Arial"/>
              </a:rPr>
              <a:t>Application capabilities and available evidence</a:t>
            </a:r>
          </a:p>
        </p:txBody>
      </p:sp>
      <p:sp>
        <p:nvSpPr>
          <p:cNvPr id="3" name="slide-number">
            <a:extLst xmlns:a="http://schemas.openxmlformats.org/drawingml/2006/main">
              <a:ext uri="{FF2B5EF4-FFF2-40B4-BE49-F238E27FC236}">
                <a16:creationId xmlns:a16="http://schemas.microsoft.com/office/drawing/2014/main" id="{6DD76F78-81DB-41B5-8855-C8D24BB735BA}"/>
              </a:ext>
            </a:extLst>
          </p:cNvPr>
          <p:cNvSpPr>
            <a:spLocks xmlns:a="http://schemas.openxmlformats.org/drawingml/2006/main" noGrp="1"/>
          </p:cNvSpPr>
          <p:nvPr/>
        </p:nvSpPr>
        <p:spPr>
          <a:xfrm xmlns:a="http://schemas.openxmlformats.org/drawingml/2006/main">
            <a:off x="11163300" y="64008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1050" b="0">
                <a:solidFill>
                  <a:srgbClr val="526475"/>
                </a:solidFill>
                <a:latin typeface="Arial"/>
                <a:ea typeface="Arial"/>
                <a:cs typeface="Arial"/>
              </a:defRPr>
            </a:defPPr>
          </a:lstStyle>
          <a:p xmlns:a="http://schemas.openxmlformats.org/drawingml/2006/main">
            <a:pPr algn="r">
              <a:lnSpc>
                <a:spcPct val="108000"/>
              </a:lnSpc>
              <a:buNone/>
              <a:defRPr sz="1050" b="0">
                <a:solidFill>
                  <a:srgbClr val="526475"/>
                </a:solidFill>
                <a:latin typeface="Arial"/>
                <a:ea typeface="Arial"/>
                <a:cs typeface="Arial"/>
              </a:defRPr>
            </a:pPr>
            <a:r>
              <a:rPr sz="1050" b="0">
                <a:solidFill>
                  <a:srgbClr val="526475"/>
                </a:solidFill>
                <a:latin typeface="Arial"/>
                <a:ea typeface="Arial"/>
                <a:cs typeface="Arial"/>
              </a:rPr>
              <a:t>03</a:t>
            </a:r>
          </a:p>
        </p:txBody>
      </p:sp>
      <p:pic>
        <p:nvPicPr>
          <p:cNvPr id="4" name="">
            <a:extLst xmlns:a="http://schemas.openxmlformats.org/drawingml/2006/main">
              <a:ext uri="{FF2B5EF4-FFF2-40B4-BE49-F238E27FC236}">
                <a16:creationId xmlns:a16="http://schemas.microsoft.com/office/drawing/2014/main" id="{B384DAA3-3A74-4A16-AC36-2818B7FB75DF}"/>
              </a:ext>
            </a:extLst>
          </p:cNvPr>
          <p:cNvPicPr>
            <a:picLocks xmlns:a="http://schemas.openxmlformats.org/drawingml/2006/main" noChangeAspect="1"/>
          </p:cNvPicPr>
          <p:nvPr/>
        </p:nvPicPr>
        <p:blipFill>
          <a:blip xmlns:r="http://schemas.openxmlformats.org/officeDocument/2006/relationships" xmlns:a="http://schemas.openxmlformats.org/drawingml/2006/main" r:embed="R1f9f95b6227742de"/>
          <a:stretch xmlns:a="http://schemas.openxmlformats.org/drawingml/2006/main"/>
        </p:blipFill>
        <p:spPr>
          <a:xfrm xmlns:a="http://schemas.openxmlformats.org/drawingml/2006/main">
            <a:off x="457200" y="1608995"/>
            <a:ext cx="7067550" cy="3659060"/>
          </a:xfrm>
          <a:prstGeom xmlns:a="http://schemas.openxmlformats.org/drawingml/2006/main" prst="rect">
            <a:avLst/>
          </a:prstGeom>
        </p:spPr>
      </p:pic>
      <p:sp>
        <p:nvSpPr>
          <p:cNvPr id="5" name="capabilities">
            <a:extLst xmlns:a="http://schemas.openxmlformats.org/drawingml/2006/main">
              <a:ext uri="{FF2B5EF4-FFF2-40B4-BE49-F238E27FC236}">
                <a16:creationId xmlns:a16="http://schemas.microsoft.com/office/drawing/2014/main" id="{34EC5832-5133-40D6-82C1-D8B8C6808008}"/>
              </a:ext>
            </a:extLst>
          </p:cNvPr>
          <p:cNvSpPr>
            <a:spLocks xmlns:a="http://schemas.openxmlformats.org/drawingml/2006/main" noGrp="1"/>
          </p:cNvSpPr>
          <p:nvPr/>
        </p:nvSpPr>
        <p:spPr>
          <a:xfrm xmlns:a="http://schemas.openxmlformats.org/drawingml/2006/main">
            <a:off x="7943850" y="1600200"/>
            <a:ext cx="36766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0">
                <a:solidFill>
                  <a:srgbClr val="172B3A"/>
                </a:solidFill>
                <a:latin typeface="Arial"/>
                <a:ea typeface="Arial"/>
                <a:cs typeface="Arial"/>
              </a:defRPr>
            </a:defPPr>
          </a:lstStyle>
          <a:p xmlns:a="http://schemas.openxmlformats.org/drawingml/2006/main">
            <a:pPr algn="l">
              <a:lnSpc>
                <a:spcPct val="125000"/>
              </a:lnSpc>
              <a:buNone/>
              <a:defRPr sz="1725" b="0">
                <a:solidFill>
                  <a:srgbClr val="172B3A"/>
                </a:solidFill>
                <a:latin typeface="Arial"/>
                <a:ea typeface="Arial"/>
                <a:cs typeface="Arial"/>
              </a:defRPr>
            </a:pPr>
            <a:r>
              <a:rPr sz="1725" b="0">
                <a:solidFill>
                  <a:srgbClr val="172B3A"/>
                </a:solidFill>
                <a:latin typeface="Arial"/>
                <a:ea typeface="Arial"/>
                <a:cs typeface="Arial"/>
              </a:rPr>
              <a:t>Incident reporting and review</a:t>
            </a:r>
          </a:p>
          <a:p xmlns:a="http://schemas.openxmlformats.org/drawingml/2006/main">
            <a:pPr algn="l">
              <a:lnSpc>
                <a:spcPct val="125000"/>
              </a:lnSpc>
              <a:buNone/>
              <a:defRPr sz="1725" b="0">
                <a:solidFill>
                  <a:srgbClr val="172B3A"/>
                </a:solidFill>
                <a:latin typeface="Arial"/>
                <a:ea typeface="Arial"/>
                <a:cs typeface="Arial"/>
              </a:defRPr>
            </a:pPr>
            <a:r>
              <a:rPr sz="1725" b="0">
                <a:solidFill>
                  <a:srgbClr val="172B3A"/>
                </a:solidFill>
                <a:latin typeface="Arial"/>
                <a:ea typeface="Arial"/>
                <a:cs typeface="Arial"/>
              </a:rPr>
              <a:t>Operations dashboard and queue</a:t>
            </a:r>
          </a:p>
          <a:p xmlns:a="http://schemas.openxmlformats.org/drawingml/2006/main">
            <a:pPr algn="l">
              <a:lnSpc>
                <a:spcPct val="125000"/>
              </a:lnSpc>
              <a:buNone/>
              <a:defRPr sz="1725" b="0">
                <a:solidFill>
                  <a:srgbClr val="172B3A"/>
                </a:solidFill>
                <a:latin typeface="Arial"/>
                <a:ea typeface="Arial"/>
                <a:cs typeface="Arial"/>
              </a:defRPr>
            </a:pPr>
            <a:r>
              <a:rPr sz="1725" b="0">
                <a:solidFill>
                  <a:srgbClr val="172B3A"/>
                </a:solidFill>
                <a:latin typeface="Arial"/>
                <a:ea typeface="Arial"/>
                <a:cs typeface="Arial"/>
              </a:rPr>
              <a:t>Leaflet map and resource command center</a:t>
            </a:r>
          </a:p>
          <a:p xmlns:a="http://schemas.openxmlformats.org/drawingml/2006/main">
            <a:pPr algn="l">
              <a:lnSpc>
                <a:spcPct val="125000"/>
              </a:lnSpc>
              <a:buNone/>
              <a:defRPr sz="1725" b="0">
                <a:solidFill>
                  <a:srgbClr val="172B3A"/>
                </a:solidFill>
                <a:latin typeface="Arial"/>
                <a:ea typeface="Arial"/>
                <a:cs typeface="Arial"/>
              </a:defRPr>
            </a:pPr>
            <a:r>
              <a:rPr sz="1725" b="0">
                <a:solidFill>
                  <a:srgbClr val="172B3A"/>
                </a:solidFill>
                <a:latin typeface="Arial"/>
                <a:ea typeface="Arial"/>
                <a:cs typeface="Arial"/>
              </a:rPr>
              <a:t>Copilot, situations, notifications</a:t>
            </a:r>
          </a:p>
        </p:txBody>
      </p:sp>
      <p:sp>
        <p:nvSpPr>
          <p:cNvPr id="6" name="evidence-note">
            <a:extLst xmlns:a="http://schemas.openxmlformats.org/drawingml/2006/main">
              <a:ext uri="{FF2B5EF4-FFF2-40B4-BE49-F238E27FC236}">
                <a16:creationId xmlns:a16="http://schemas.microsoft.com/office/drawing/2014/main" id="{DDF07900-9DCF-434F-A53A-72F71F4D843B}"/>
              </a:ext>
            </a:extLst>
          </p:cNvPr>
          <p:cNvSpPr>
            <a:spLocks xmlns:a="http://schemas.openxmlformats.org/drawingml/2006/main" noGrp="1"/>
          </p:cNvSpPr>
          <p:nvPr/>
        </p:nvSpPr>
        <p:spPr>
          <a:xfrm xmlns:a="http://schemas.openxmlformats.org/drawingml/2006/main">
            <a:off x="7943850" y="3924300"/>
            <a:ext cx="36766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a:solidFill>
                  <a:srgbClr val="526475"/>
                </a:solidFill>
                <a:latin typeface="Arial"/>
                <a:ea typeface="Arial"/>
                <a:cs typeface="Arial"/>
              </a:defRPr>
            </a:defPPr>
          </a:lstStyle>
          <a:p xmlns:a="http://schemas.openxmlformats.org/drawingml/2006/main">
            <a:pPr algn="l">
              <a:lnSpc>
                <a:spcPct val="118000"/>
              </a:lnSpc>
              <a:buNone/>
              <a:defRPr sz="1350" b="0">
                <a:solidFill>
                  <a:srgbClr val="526475"/>
                </a:solidFill>
                <a:latin typeface="Arial"/>
                <a:ea typeface="Arial"/>
                <a:cs typeface="Arial"/>
              </a:defRPr>
            </a:pPr>
            <a:r>
              <a:rPr sz="1350" b="0">
                <a:solidFill>
                  <a:srgbClr val="526475"/>
                </a:solidFill>
                <a:latin typeface="Arial"/>
                <a:ea typeface="Arial"/>
                <a:cs typeface="Arial"/>
              </a:rPr>
              <a:t>Actual Operator capture, 18 Oct 2026</a:t>
            </a:r>
          </a:p>
          <a:p xmlns:a="http://schemas.openxmlformats.org/drawingml/2006/main">
            <a:pPr algn="l">
              <a:lnSpc>
                <a:spcPct val="118000"/>
              </a:lnSpc>
              <a:buNone/>
              <a:defRPr sz="1350" b="0">
                <a:solidFill>
                  <a:srgbClr val="526475"/>
                </a:solidFill>
                <a:latin typeface="Arial"/>
                <a:ea typeface="Arial"/>
                <a:cs typeface="Arial"/>
              </a:defRPr>
            </a:pPr>
            <a:r>
              <a:rPr sz="1350" b="0">
                <a:solidFill>
                  <a:srgbClr val="526475"/>
                </a:solidFill>
                <a:latin typeface="Arial"/>
                <a:ea typeface="Arial"/>
                <a:cs typeface="Arial"/>
              </a:rPr>
              <a:t>Dashboard: 12 active reports; 8 critical.</a:t>
            </a:r>
          </a:p>
          <a:p xmlns:a="http://schemas.openxmlformats.org/drawingml/2006/main">
            <a:pPr algn="l">
              <a:lnSpc>
                <a:spcPct val="118000"/>
              </a:lnSpc>
              <a:buNone/>
              <a:defRPr sz="1350" b="0">
                <a:solidFill>
                  <a:srgbClr val="526475"/>
                </a:solidFill>
                <a:latin typeface="Arial"/>
                <a:ea typeface="Arial"/>
                <a:cs typeface="Arial"/>
              </a:defRPr>
            </a:pPr>
            <a:r>
              <a:rPr sz="1350" b="0">
                <a:solidFill>
                  <a:srgbClr val="526475"/>
                </a:solidFill>
                <a:latin typeface="Arial"/>
                <a:ea typeface="Arial"/>
                <a:cs typeface="Arial"/>
              </a:rPr>
              <a:t>Desktop capture only. Dataset and source revision were not supplied.</a:t>
            </a:r>
          </a:p>
        </p:txBody>
      </p:sp>
    </p:spTree>
    <p:extLst>
      <p:ext uri="{BB962C8B-B14F-4D97-AF65-F5344CB8AC3E}">
        <p14:creationId xmlns:p14="http://schemas.microsoft.com/office/powerpoint/2010/main" val="2046477235"/>
      </p:ext>
    </p:extLst>
  </p:cSld>
</p:sld>
</file>

<file path=ppt/slides/slide4.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cxnSp>
        <p:nvCxnSpPr>
          <p:cNvPr id="18" name="">
            <a:extLst xmlns:a="http://schemas.openxmlformats.org/drawingml/2006/main">
              <a:ext uri="{FF2B5EF4-FFF2-40B4-BE49-F238E27FC236}">
                <a16:creationId xmlns:a16="http://schemas.microsoft.com/office/drawing/2014/main" id="{1567AC48-0E7C-4696-80FF-AE023C8C0135}"/>
              </a:ext>
            </a:extLst>
          </p:cNvPr>
          <p:cNvCxnSpPr>
            <a:stCxn xmlns:a="http://schemas.openxmlformats.org/drawingml/2006/main" id="8" idx="2"/>
            <a:endCxn xmlns:a="http://schemas.openxmlformats.org/drawingml/2006/main" id="11" idx="0"/>
          </p:cNvCxnSpPr>
          <p:nvPr/>
        </p:nvCxnSpPr>
        <p:spPr>
          <a:xfrm xmlns:a="http://schemas.openxmlformats.org/drawingml/2006/main">
            <a:off x="7477125" y="4419600"/>
            <a:ext cx="1143000" cy="857250"/>
          </a:xfrm>
          <a:prstGeom xmlns:a="http://schemas.openxmlformats.org/drawingml/2006/main" prst="straightConnector1">
            <a:avLst/>
          </a:prstGeom>
          <a:ln xmlns:a="http://schemas.openxmlformats.org/drawingml/2006/main" w="19050">
            <a:solidFill>
              <a:srgbClr val="8DA4B8"/>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D52FA32C-1DC5-46B6-AF1E-EF99FF72FB6E}"/>
              </a:ext>
            </a:extLst>
          </p:cNvPr>
          <p:cNvCxnSpPr>
            <a:stCxn xmlns:a="http://schemas.openxmlformats.org/drawingml/2006/main" id="8" idx="2"/>
            <a:endCxn xmlns:a="http://schemas.openxmlformats.org/drawingml/2006/main" id="10" idx="0"/>
          </p:cNvCxnSpPr>
          <p:nvPr/>
        </p:nvCxnSpPr>
        <p:spPr>
          <a:xfrm xmlns:a="http://schemas.openxmlformats.org/drawingml/2006/main" flipH="1">
            <a:off x="4762500" y="4419600"/>
            <a:ext cx="2714625" cy="857250"/>
          </a:xfrm>
          <a:prstGeom xmlns:a="http://schemas.openxmlformats.org/drawingml/2006/main" prst="straightConnector1">
            <a:avLst/>
          </a:prstGeom>
          <a:ln xmlns:a="http://schemas.openxmlformats.org/drawingml/2006/main" w="19050">
            <a:solidFill>
              <a:srgbClr val="8DA4B8"/>
            </a:solidFill>
            <a:prstDash val="solid"/>
            <a:tailEnd type="arrow" w="med" len="med"/>
          </a:ln>
        </p:spPr>
      </p:cxnSp>
      <p:cxnSp>
        <p:nvCxnSpPr>
          <p:cNvPr id="16" name="">
            <a:extLst xmlns:a="http://schemas.openxmlformats.org/drawingml/2006/main">
              <a:ext uri="{FF2B5EF4-FFF2-40B4-BE49-F238E27FC236}">
                <a16:creationId xmlns:a16="http://schemas.microsoft.com/office/drawing/2014/main" id="{002EAC77-BADD-41BB-85C8-B50893DC191D}"/>
              </a:ext>
            </a:extLst>
          </p:cNvPr>
          <p:cNvCxnSpPr>
            <a:stCxn xmlns:a="http://schemas.openxmlformats.org/drawingml/2006/main" id="8" idx="3"/>
            <a:endCxn xmlns:a="http://schemas.openxmlformats.org/drawingml/2006/main" id="9" idx="1"/>
          </p:cNvCxnSpPr>
          <p:nvPr/>
        </p:nvCxnSpPr>
        <p:spPr>
          <a:xfrm xmlns:a="http://schemas.openxmlformats.org/drawingml/2006/main">
            <a:off x="8763000" y="4029075"/>
            <a:ext cx="1143000" cy="0"/>
          </a:xfrm>
          <a:prstGeom xmlns:a="http://schemas.openxmlformats.org/drawingml/2006/main" prst="straightConnector1">
            <a:avLst/>
          </a:prstGeom>
          <a:ln xmlns:a="http://schemas.openxmlformats.org/drawingml/2006/main" w="19050">
            <a:solidFill>
              <a:srgbClr val="8DA4B8"/>
            </a:solidFill>
            <a:prstDash val="solid"/>
            <a:tailEnd type="arrow" w="med" len="med"/>
          </a:ln>
        </p:spPr>
      </p:cxnSp>
      <p:cxnSp>
        <p:nvCxnSpPr>
          <p:cNvPr id="15" name="">
            <a:extLst xmlns:a="http://schemas.openxmlformats.org/drawingml/2006/main">
              <a:ext uri="{FF2B5EF4-FFF2-40B4-BE49-F238E27FC236}">
                <a16:creationId xmlns:a16="http://schemas.microsoft.com/office/drawing/2014/main" id="{D8676072-5636-4025-B5C2-23BD120BFC2C}"/>
              </a:ext>
            </a:extLst>
          </p:cNvPr>
          <p:cNvCxnSpPr>
            <a:stCxn xmlns:a="http://schemas.openxmlformats.org/drawingml/2006/main" id="6" idx="2"/>
            <a:endCxn xmlns:a="http://schemas.openxmlformats.org/drawingml/2006/main" id="8" idx="0"/>
          </p:cNvCxnSpPr>
          <p:nvPr/>
        </p:nvCxnSpPr>
        <p:spPr>
          <a:xfrm xmlns:a="http://schemas.openxmlformats.org/drawingml/2006/main" flipH="1">
            <a:off x="7477125" y="2419350"/>
            <a:ext cx="1114425" cy="1219200"/>
          </a:xfrm>
          <a:prstGeom xmlns:a="http://schemas.openxmlformats.org/drawingml/2006/main" prst="straightConnector1">
            <a:avLst/>
          </a:prstGeom>
          <a:ln xmlns:a="http://schemas.openxmlformats.org/drawingml/2006/main" w="19050">
            <a:solidFill>
              <a:srgbClr val="8DA4B8"/>
            </a:solidFill>
            <a:prstDash val="solid"/>
            <a:tailEnd type="arrow" w="med" len="med"/>
          </a:ln>
        </p:spPr>
      </p:cxnSp>
      <p:cxnSp>
        <p:nvCxnSpPr>
          <p:cNvPr id="14" name="">
            <a:extLst xmlns:a="http://schemas.openxmlformats.org/drawingml/2006/main">
              <a:ext uri="{FF2B5EF4-FFF2-40B4-BE49-F238E27FC236}">
                <a16:creationId xmlns:a16="http://schemas.microsoft.com/office/drawing/2014/main" id="{ACB36949-ABB9-4FEC-BEC1-BA0FBC51F762}"/>
              </a:ext>
            </a:extLst>
          </p:cNvPr>
          <p:cNvCxnSpPr>
            <a:stCxn xmlns:a="http://schemas.openxmlformats.org/drawingml/2006/main" id="6" idx="2"/>
            <a:endCxn xmlns:a="http://schemas.openxmlformats.org/drawingml/2006/main" id="7" idx="0"/>
          </p:cNvCxnSpPr>
          <p:nvPr/>
        </p:nvCxnSpPr>
        <p:spPr>
          <a:xfrm xmlns:a="http://schemas.openxmlformats.org/drawingml/2006/main" flipH="1">
            <a:off x="3781425" y="2419350"/>
            <a:ext cx="4810125" cy="1219200"/>
          </a:xfrm>
          <a:prstGeom xmlns:a="http://schemas.openxmlformats.org/drawingml/2006/main" prst="straightConnector1">
            <a:avLst/>
          </a:prstGeom>
          <a:ln xmlns:a="http://schemas.openxmlformats.org/drawingml/2006/main" w="19050">
            <a:solidFill>
              <a:srgbClr val="8DA4B8"/>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32D94674-51ED-43B1-8F68-975EE5F8EBCD}"/>
              </a:ext>
            </a:extLst>
          </p:cNvPr>
          <p:cNvCxnSpPr>
            <a:stCxn xmlns:a="http://schemas.openxmlformats.org/drawingml/2006/main" id="5" idx="3"/>
            <a:endCxn xmlns:a="http://schemas.openxmlformats.org/drawingml/2006/main" id="6" idx="1"/>
          </p:cNvCxnSpPr>
          <p:nvPr/>
        </p:nvCxnSpPr>
        <p:spPr>
          <a:xfrm xmlns:a="http://schemas.openxmlformats.org/drawingml/2006/main">
            <a:off x="5715000" y="2028825"/>
            <a:ext cx="1447800" cy="0"/>
          </a:xfrm>
          <a:prstGeom xmlns:a="http://schemas.openxmlformats.org/drawingml/2006/main" prst="straightConnector1">
            <a:avLst/>
          </a:prstGeom>
          <a:ln xmlns:a="http://schemas.openxmlformats.org/drawingml/2006/main" w="19050">
            <a:solidFill>
              <a:srgbClr val="8DA4B8"/>
            </a:solidFill>
            <a:prstDash val="solid"/>
            <a:tailEnd type="arrow" w="med" len="med"/>
          </a:ln>
        </p:spPr>
      </p:cxnSp>
      <p:cxnSp>
        <p:nvCxnSpPr>
          <p:cNvPr id="12" name="">
            <a:extLst xmlns:a="http://schemas.openxmlformats.org/drawingml/2006/main">
              <a:ext uri="{FF2B5EF4-FFF2-40B4-BE49-F238E27FC236}">
                <a16:creationId xmlns:a16="http://schemas.microsoft.com/office/drawing/2014/main" id="{B99E30B7-BA5C-47AE-BF50-78F5AC6C30F7}"/>
              </a:ext>
            </a:extLst>
          </p:cNvPr>
          <p:cNvCxnSpPr>
            <a:stCxn xmlns:a="http://schemas.openxmlformats.org/drawingml/2006/main" id="4" idx="3"/>
            <a:endCxn xmlns:a="http://schemas.openxmlformats.org/drawingml/2006/main" id="5" idx="1"/>
          </p:cNvCxnSpPr>
          <p:nvPr/>
        </p:nvCxnSpPr>
        <p:spPr>
          <a:xfrm xmlns:a="http://schemas.openxmlformats.org/drawingml/2006/main">
            <a:off x="2514600" y="2028825"/>
            <a:ext cx="1009650" cy="0"/>
          </a:xfrm>
          <a:prstGeom xmlns:a="http://schemas.openxmlformats.org/drawingml/2006/main" prst="straightConnector1">
            <a:avLst/>
          </a:prstGeom>
          <a:ln xmlns:a="http://schemas.openxmlformats.org/drawingml/2006/main" w="19050">
            <a:solidFill>
              <a:srgbClr val="8DA4B8"/>
            </a:solidFill>
            <a:prstDash val="solid"/>
            <a:tailEnd type="arrow" w="med" len="med"/>
          </a:ln>
        </p:spPr>
      </p:cxnSp>
      <p:sp>
        <p:nvSpPr>
          <p:cNvPr id="20" name="slide-kicker">
            <a:extLst xmlns:a="http://schemas.openxmlformats.org/drawingml/2006/main">
              <a:ext uri="{FF2B5EF4-FFF2-40B4-BE49-F238E27FC236}">
                <a16:creationId xmlns:a16="http://schemas.microsoft.com/office/drawing/2014/main" id="{30B61777-7DE9-455A-AF33-514FEA6590C2}"/>
              </a:ext>
            </a:extLst>
          </p:cNvPr>
          <p:cNvSpPr>
            <a:spLocks xmlns:a="http://schemas.openxmlformats.org/drawingml/2006/main" noGrp="1"/>
          </p:cNvSpPr>
          <p:nvPr/>
        </p:nvSpPr>
        <p:spPr>
          <a:xfrm xmlns:a="http://schemas.openxmlformats.org/drawingml/2006/main">
            <a:off x="552450" y="323850"/>
            <a:ext cx="647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050" b="1">
                <a:solidFill>
                  <a:srgbClr val="147D78"/>
                </a:solidFill>
                <a:latin typeface="Arial"/>
                <a:ea typeface="Arial"/>
                <a:cs typeface="Arial"/>
              </a:defRPr>
            </a:defPPr>
          </a:lstStyle>
          <a:p xmlns:a="http://schemas.openxmlformats.org/drawingml/2006/main">
            <a:pPr algn="l">
              <a:lnSpc>
                <a:spcPct val="108000"/>
              </a:lnSpc>
              <a:buNone/>
              <a:defRPr sz="1050" b="1">
                <a:solidFill>
                  <a:srgbClr val="147D78"/>
                </a:solidFill>
                <a:latin typeface="Arial"/>
                <a:ea typeface="Arial"/>
                <a:cs typeface="Arial"/>
              </a:defRPr>
            </a:pPr>
            <a:r>
              <a:rPr sz="1050" b="1">
                <a:solidFill>
                  <a:srgbClr val="147D78"/>
                </a:solidFill>
                <a:latin typeface="Arial"/>
                <a:ea typeface="Arial"/>
                <a:cs typeface="Arial"/>
              </a:rPr>
              <a:t>AI EMERGENCY RESPONSE</a:t>
            </a:r>
          </a:p>
        </p:txBody>
      </p:sp>
      <p:sp>
        <p:nvSpPr>
          <p:cNvPr id="2" name="slide-title">
            <a:extLst xmlns:a="http://schemas.openxmlformats.org/drawingml/2006/main">
              <a:ext uri="{FF2B5EF4-FFF2-40B4-BE49-F238E27FC236}">
                <a16:creationId xmlns:a16="http://schemas.microsoft.com/office/drawing/2014/main" id="{587BF98E-E79B-4B6A-95B1-F99171C49414}"/>
              </a:ext>
            </a:extLst>
          </p:cNvPr>
          <p:cNvSpPr>
            <a:spLocks xmlns:a="http://schemas.openxmlformats.org/drawingml/2006/main" noGrp="1"/>
          </p:cNvSpPr>
          <p:nvPr/>
        </p:nvSpPr>
        <p:spPr>
          <a:xfrm xmlns:a="http://schemas.openxmlformats.org/drawingml/2006/main">
            <a:off x="552450" y="685800"/>
            <a:ext cx="11049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150" b="1">
                <a:solidFill>
                  <a:srgbClr val="102A43"/>
                </a:solidFill>
                <a:latin typeface="Arial"/>
                <a:ea typeface="Arial"/>
                <a:cs typeface="Arial"/>
              </a:defRPr>
            </a:defPPr>
          </a:lstStyle>
          <a:p xmlns:a="http://schemas.openxmlformats.org/drawingml/2006/main">
            <a:pPr algn="l">
              <a:lnSpc>
                <a:spcPct val="108000"/>
              </a:lnSpc>
              <a:buNone/>
              <a:defRPr sz="3150" b="1">
                <a:solidFill>
                  <a:srgbClr val="102A43"/>
                </a:solidFill>
                <a:latin typeface="Arial"/>
                <a:ea typeface="Arial"/>
                <a:cs typeface="Arial"/>
              </a:defRPr>
            </a:pPr>
            <a:r>
              <a:rPr sz="3150" b="1">
                <a:solidFill>
                  <a:srgbClr val="102A43"/>
                </a:solidFill>
                <a:latin typeface="Arial"/>
                <a:ea typeface="Arial"/>
                <a:cs typeface="Arial"/>
              </a:rPr>
              <a:t>Architecture and technology</a:t>
            </a:r>
          </a:p>
        </p:txBody>
      </p:sp>
      <p:sp>
        <p:nvSpPr>
          <p:cNvPr id="3" name="slide-number">
            <a:extLst xmlns:a="http://schemas.openxmlformats.org/drawingml/2006/main">
              <a:ext uri="{FF2B5EF4-FFF2-40B4-BE49-F238E27FC236}">
                <a16:creationId xmlns:a16="http://schemas.microsoft.com/office/drawing/2014/main" id="{4B7282EC-3ABD-43EF-8CE8-3C8CBAB542D6}"/>
              </a:ext>
            </a:extLst>
          </p:cNvPr>
          <p:cNvSpPr>
            <a:spLocks xmlns:a="http://schemas.openxmlformats.org/drawingml/2006/main" noGrp="1"/>
          </p:cNvSpPr>
          <p:nvPr/>
        </p:nvSpPr>
        <p:spPr>
          <a:xfrm xmlns:a="http://schemas.openxmlformats.org/drawingml/2006/main">
            <a:off x="11163300" y="64008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1050" b="0">
                <a:solidFill>
                  <a:srgbClr val="526475"/>
                </a:solidFill>
                <a:latin typeface="Arial"/>
                <a:ea typeface="Arial"/>
                <a:cs typeface="Arial"/>
              </a:defRPr>
            </a:defPPr>
          </a:lstStyle>
          <a:p xmlns:a="http://schemas.openxmlformats.org/drawingml/2006/main">
            <a:pPr algn="r">
              <a:lnSpc>
                <a:spcPct val="108000"/>
              </a:lnSpc>
              <a:buNone/>
              <a:defRPr sz="1050" b="0">
                <a:solidFill>
                  <a:srgbClr val="526475"/>
                </a:solidFill>
                <a:latin typeface="Arial"/>
                <a:ea typeface="Arial"/>
                <a:cs typeface="Arial"/>
              </a:defRPr>
            </a:pPr>
            <a:r>
              <a:rPr sz="1050" b="0">
                <a:solidFill>
                  <a:srgbClr val="526475"/>
                </a:solidFill>
                <a:latin typeface="Arial"/>
                <a:ea typeface="Arial"/>
                <a:cs typeface="Arial"/>
              </a:rPr>
              <a:t>04</a:t>
            </a:r>
          </a:p>
        </p:txBody>
      </p:sp>
      <p:sp>
        <p:nvSpPr>
          <p:cNvPr id="4" name="browser">
            <a:extLst xmlns:a="http://schemas.openxmlformats.org/drawingml/2006/main">
              <a:ext uri="{FF2B5EF4-FFF2-40B4-BE49-F238E27FC236}">
                <a16:creationId xmlns:a16="http://schemas.microsoft.com/office/drawing/2014/main" id="{1F488DA2-9F1F-4A2F-8596-1B1C834283B5}"/>
              </a:ext>
            </a:extLst>
          </p:cNvPr>
          <p:cNvSpPr>
            <a:spLocks xmlns:a="http://schemas.openxmlformats.org/drawingml/2006/main" noGrp="1"/>
          </p:cNvSpPr>
          <p:nvPr/>
        </p:nvSpPr>
        <p:spPr>
          <a:xfrm xmlns:a="http://schemas.openxmlformats.org/drawingml/2006/main">
            <a:off x="514350" y="1638300"/>
            <a:ext cx="200025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2457A7"/>
            </a:solidFill>
            <a:prstDash val="solid"/>
          </a:ln>
        </p:spPr>
        <p:txBody>
          <a:bodyPr xmlns:a="http://schemas.openxmlformats.org/drawingml/2006/main" wrap="square" lIns="114300" tIns="76200" rIns="114300" bIns="76200" anchor="ctr">
            <a:normAutofit fontScale="98883"/>
          </a:bodyPr>
          <a:lstStyle xmlns:a="http://schemas.openxmlformats.org/drawingml/2006/main">
            <a:defPPr algn="ctr">
              <a:defRPr sz="1575" b="1">
                <a:solidFill>
                  <a:srgbClr val="172B3A"/>
                </a:solidFill>
                <a:latin typeface="Arial"/>
                <a:ea typeface="Arial"/>
                <a:cs typeface="Arial"/>
              </a:defRPr>
            </a:defPPr>
          </a:lstStyle>
          <a:p xmlns:a="http://schemas.openxmlformats.org/drawingml/2006/main">
            <a:pPr algn="ctr">
              <a:buNone/>
              <a:defRPr sz="1575" b="1">
                <a:solidFill>
                  <a:srgbClr val="172B3A"/>
                </a:solidFill>
                <a:latin typeface="Arial"/>
                <a:ea typeface="Arial"/>
                <a:cs typeface="Arial"/>
              </a:defRPr>
            </a:pPr>
            <a:r>
              <a:rPr sz="1575" b="1">
                <a:solidFill>
                  <a:srgbClr val="172B3A"/>
                </a:solidFill>
                <a:latin typeface="Arial"/>
                <a:ea typeface="Arial"/>
                <a:cs typeface="Arial"/>
              </a:rPr>
              <a:t>Browser</a:t>
            </a:r>
          </a:p>
          <a:p xmlns:a="http://schemas.openxmlformats.org/drawingml/2006/main">
            <a:pPr algn="ctr">
              <a:buNone/>
              <a:defRPr sz="1575" b="1">
                <a:solidFill>
                  <a:srgbClr val="172B3A"/>
                </a:solidFill>
                <a:latin typeface="Arial"/>
                <a:ea typeface="Arial"/>
                <a:cs typeface="Arial"/>
              </a:defRPr>
            </a:pPr>
            <a:r>
              <a:rPr sz="1575" b="1">
                <a:solidFill>
                  <a:srgbClr val="172B3A"/>
                </a:solidFill>
                <a:latin typeface="Arial"/>
                <a:ea typeface="Arial"/>
                <a:cs typeface="Arial"/>
              </a:rPr>
              <a:t>Razor + JavaScript</a:t>
            </a:r>
          </a:p>
        </p:txBody>
      </p:sp>
      <p:sp>
        <p:nvSpPr>
          <p:cNvPr id="5" name="web">
            <a:extLst xmlns:a="http://schemas.openxmlformats.org/drawingml/2006/main">
              <a:ext uri="{FF2B5EF4-FFF2-40B4-BE49-F238E27FC236}">
                <a16:creationId xmlns:a16="http://schemas.microsoft.com/office/drawing/2014/main" id="{37FB02BE-6DB5-4B06-98EE-0FB4EA8AF142}"/>
              </a:ext>
            </a:extLst>
          </p:cNvPr>
          <p:cNvSpPr>
            <a:spLocks xmlns:a="http://schemas.openxmlformats.org/drawingml/2006/main" noGrp="1"/>
          </p:cNvSpPr>
          <p:nvPr/>
        </p:nvSpPr>
        <p:spPr>
          <a:xfrm xmlns:a="http://schemas.openxmlformats.org/drawingml/2006/main">
            <a:off x="3524250" y="1638300"/>
            <a:ext cx="219075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2457A7"/>
            </a:solidFill>
            <a:prstDash val="solid"/>
          </a:ln>
        </p:spPr>
        <p:txBody>
          <a:bodyPr xmlns:a="http://schemas.openxmlformats.org/drawingml/2006/main" wrap="square" lIns="114300" tIns="76200" rIns="114300" bIns="76200" anchor="ctr">
            <a:normAutofit fontScale="100000"/>
          </a:bodyPr>
          <a:lstStyle xmlns:a="http://schemas.openxmlformats.org/drawingml/2006/main">
            <a:defPPr algn="ctr">
              <a:defRPr sz="1575" b="1">
                <a:solidFill>
                  <a:srgbClr val="172B3A"/>
                </a:solidFill>
                <a:latin typeface="Arial"/>
                <a:ea typeface="Arial"/>
                <a:cs typeface="Arial"/>
              </a:defRPr>
            </a:defPPr>
          </a:lstStyle>
          <a:p xmlns:a="http://schemas.openxmlformats.org/drawingml/2006/main">
            <a:pPr algn="ctr">
              <a:buNone/>
              <a:defRPr sz="1575" b="1">
                <a:solidFill>
                  <a:srgbClr val="172B3A"/>
                </a:solidFill>
                <a:latin typeface="Arial"/>
                <a:ea typeface="Arial"/>
                <a:cs typeface="Arial"/>
              </a:defRPr>
            </a:pPr>
            <a:r>
              <a:rPr sz="1575" b="1">
                <a:solidFill>
                  <a:srgbClr val="172B3A"/>
                </a:solidFill>
                <a:latin typeface="Arial"/>
                <a:ea typeface="Arial"/>
                <a:cs typeface="Arial"/>
              </a:rPr>
              <a:t>ASP.NET Core</a:t>
            </a:r>
          </a:p>
          <a:p xmlns:a="http://schemas.openxmlformats.org/drawingml/2006/main">
            <a:pPr algn="ctr">
              <a:buNone/>
              <a:defRPr sz="1575" b="1">
                <a:solidFill>
                  <a:srgbClr val="172B3A"/>
                </a:solidFill>
                <a:latin typeface="Arial"/>
                <a:ea typeface="Arial"/>
                <a:cs typeface="Arial"/>
              </a:defRPr>
            </a:pPr>
            <a:r>
              <a:rPr sz="1575" b="1">
                <a:solidFill>
                  <a:srgbClr val="172B3A"/>
                </a:solidFill>
                <a:latin typeface="Arial"/>
                <a:ea typeface="Arial"/>
                <a:cs typeface="Arial"/>
              </a:rPr>
              <a:t>MVC Web</a:t>
            </a:r>
          </a:p>
        </p:txBody>
      </p:sp>
      <p:sp>
        <p:nvSpPr>
          <p:cNvPr id="6" name="api">
            <a:extLst xmlns:a="http://schemas.openxmlformats.org/drawingml/2006/main">
              <a:ext uri="{FF2B5EF4-FFF2-40B4-BE49-F238E27FC236}">
                <a16:creationId xmlns:a16="http://schemas.microsoft.com/office/drawing/2014/main" id="{DCB45AF8-B5FB-4119-B1DB-2F34FB91F8F5}"/>
              </a:ext>
            </a:extLst>
          </p:cNvPr>
          <p:cNvSpPr>
            <a:spLocks xmlns:a="http://schemas.openxmlformats.org/drawingml/2006/main" noGrp="1"/>
          </p:cNvSpPr>
          <p:nvPr/>
        </p:nvSpPr>
        <p:spPr>
          <a:xfrm xmlns:a="http://schemas.openxmlformats.org/drawingml/2006/main">
            <a:off x="7162800" y="1638300"/>
            <a:ext cx="285750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2457A7"/>
            </a:solidFill>
            <a:prstDash val="solid"/>
          </a:ln>
        </p:spPr>
        <p:txBody>
          <a:bodyPr xmlns:a="http://schemas.openxmlformats.org/drawingml/2006/main" wrap="square" lIns="114300" tIns="76200" rIns="114300" bIns="76200" anchor="ctr">
            <a:normAutofit fontScale="90645"/>
          </a:bodyPr>
          <a:lstStyle xmlns:a="http://schemas.openxmlformats.org/drawingml/2006/main">
            <a:defPPr algn="ctr">
              <a:defRPr sz="1575" b="1">
                <a:solidFill>
                  <a:srgbClr val="172B3A"/>
                </a:solidFill>
                <a:latin typeface="Arial"/>
                <a:ea typeface="Arial"/>
                <a:cs typeface="Arial"/>
              </a:defRPr>
            </a:defPPr>
          </a:lstStyle>
          <a:p xmlns:a="http://schemas.openxmlformats.org/drawingml/2006/main">
            <a:pPr algn="ctr">
              <a:buNone/>
              <a:defRPr sz="1575" b="1">
                <a:solidFill>
                  <a:srgbClr val="172B3A"/>
                </a:solidFill>
                <a:latin typeface="Arial"/>
                <a:ea typeface="Arial"/>
                <a:cs typeface="Arial"/>
              </a:defRPr>
            </a:pPr>
            <a:r>
              <a:rPr sz="1575" b="1">
                <a:solidFill>
                  <a:srgbClr val="172B3A"/>
                </a:solidFill>
                <a:latin typeface="Arial"/>
                <a:ea typeface="Arial"/>
                <a:cs typeface="Arial"/>
              </a:rPr>
              <a:t>ASP.NET Core API</a:t>
            </a:r>
          </a:p>
          <a:p xmlns:a="http://schemas.openxmlformats.org/drawingml/2006/main">
            <a:pPr algn="ctr">
              <a:buNone/>
              <a:defRPr sz="1575" b="1">
                <a:solidFill>
                  <a:srgbClr val="172B3A"/>
                </a:solidFill>
                <a:latin typeface="Arial"/>
                <a:ea typeface="Arial"/>
                <a:cs typeface="Arial"/>
              </a:defRPr>
            </a:pPr>
            <a:r>
              <a:rPr sz="1575" b="1">
                <a:solidFill>
                  <a:srgbClr val="172B3A"/>
                </a:solidFill>
                <a:latin typeface="Arial"/>
                <a:ea typeface="Arial"/>
                <a:cs typeface="Arial"/>
              </a:rPr>
              <a:t>SignalR + selected consumers</a:t>
            </a:r>
          </a:p>
        </p:txBody>
      </p:sp>
      <p:sp>
        <p:nvSpPr>
          <p:cNvPr id="7" name="application-domain">
            <a:extLst xmlns:a="http://schemas.openxmlformats.org/drawingml/2006/main">
              <a:ext uri="{FF2B5EF4-FFF2-40B4-BE49-F238E27FC236}">
                <a16:creationId xmlns:a16="http://schemas.microsoft.com/office/drawing/2014/main" id="{5D658D50-3CAD-45AB-BF0D-93F4688E402B}"/>
              </a:ext>
            </a:extLst>
          </p:cNvPr>
          <p:cNvSpPr>
            <a:spLocks xmlns:a="http://schemas.openxmlformats.org/drawingml/2006/main" noGrp="1"/>
          </p:cNvSpPr>
          <p:nvPr/>
        </p:nvSpPr>
        <p:spPr>
          <a:xfrm xmlns:a="http://schemas.openxmlformats.org/drawingml/2006/main">
            <a:off x="2495550" y="3638550"/>
            <a:ext cx="257175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2457A7"/>
            </a:solidFill>
            <a:prstDash val="solid"/>
          </a:ln>
        </p:spPr>
        <p:txBody>
          <a:bodyPr xmlns:a="http://schemas.openxmlformats.org/drawingml/2006/main" wrap="square" lIns="114300" tIns="76200" rIns="114300" bIns="76200" anchor="ctr">
            <a:normAutofit fontScale="100000"/>
          </a:bodyPr>
          <a:lstStyle xmlns:a="http://schemas.openxmlformats.org/drawingml/2006/main">
            <a:defPPr algn="ctr">
              <a:defRPr sz="1575" b="1">
                <a:solidFill>
                  <a:srgbClr val="172B3A"/>
                </a:solidFill>
                <a:latin typeface="Arial"/>
                <a:ea typeface="Arial"/>
                <a:cs typeface="Arial"/>
              </a:defRPr>
            </a:defPPr>
          </a:lstStyle>
          <a:p xmlns:a="http://schemas.openxmlformats.org/drawingml/2006/main">
            <a:pPr algn="ctr">
              <a:buNone/>
              <a:defRPr sz="1575" b="1">
                <a:solidFill>
                  <a:srgbClr val="172B3A"/>
                </a:solidFill>
                <a:latin typeface="Arial"/>
                <a:ea typeface="Arial"/>
                <a:cs typeface="Arial"/>
              </a:defRPr>
            </a:pPr>
            <a:r>
              <a:rPr sz="1575" b="1">
                <a:solidFill>
                  <a:srgbClr val="172B3A"/>
                </a:solidFill>
                <a:latin typeface="Arial"/>
                <a:ea typeface="Arial"/>
                <a:cs typeface="Arial"/>
              </a:rPr>
              <a:t>Application contracts</a:t>
            </a:r>
          </a:p>
          <a:p xmlns:a="http://schemas.openxmlformats.org/drawingml/2006/main">
            <a:pPr algn="ctr">
              <a:buNone/>
              <a:defRPr sz="1575" b="1">
                <a:solidFill>
                  <a:srgbClr val="172B3A"/>
                </a:solidFill>
                <a:latin typeface="Arial"/>
                <a:ea typeface="Arial"/>
                <a:cs typeface="Arial"/>
              </a:defRPr>
            </a:pPr>
            <a:r>
              <a:rPr sz="1575" b="1">
                <a:solidFill>
                  <a:srgbClr val="172B3A"/>
                </a:solidFill>
                <a:latin typeface="Arial"/>
                <a:ea typeface="Arial"/>
                <a:cs typeface="Arial"/>
              </a:rPr>
              <a:t>and Domain rules</a:t>
            </a:r>
          </a:p>
        </p:txBody>
      </p:sp>
      <p:sp>
        <p:nvSpPr>
          <p:cNvPr id="8" name="infrastructure">
            <a:extLst xmlns:a="http://schemas.openxmlformats.org/drawingml/2006/main">
              <a:ext uri="{FF2B5EF4-FFF2-40B4-BE49-F238E27FC236}">
                <a16:creationId xmlns:a16="http://schemas.microsoft.com/office/drawing/2014/main" id="{36666DF0-391C-4E2C-80B8-62880DC22219}"/>
              </a:ext>
            </a:extLst>
          </p:cNvPr>
          <p:cNvSpPr>
            <a:spLocks xmlns:a="http://schemas.openxmlformats.org/drawingml/2006/main" noGrp="1"/>
          </p:cNvSpPr>
          <p:nvPr/>
        </p:nvSpPr>
        <p:spPr>
          <a:xfrm xmlns:a="http://schemas.openxmlformats.org/drawingml/2006/main">
            <a:off x="6191250" y="3638550"/>
            <a:ext cx="257175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2457A7"/>
            </a:solidFill>
            <a:prstDash val="solid"/>
          </a:ln>
        </p:spPr>
        <p:txBody>
          <a:bodyPr xmlns:a="http://schemas.openxmlformats.org/drawingml/2006/main" wrap="square" lIns="114300" tIns="76200" rIns="114300" bIns="76200" anchor="ctr">
            <a:normAutofit fontScale="100000"/>
          </a:bodyPr>
          <a:lstStyle xmlns:a="http://schemas.openxmlformats.org/drawingml/2006/main">
            <a:defPPr algn="ctr">
              <a:defRPr sz="1575" b="1">
                <a:solidFill>
                  <a:srgbClr val="172B3A"/>
                </a:solidFill>
                <a:latin typeface="Arial"/>
                <a:ea typeface="Arial"/>
                <a:cs typeface="Arial"/>
              </a:defRPr>
            </a:defPPr>
          </a:lstStyle>
          <a:p xmlns:a="http://schemas.openxmlformats.org/drawingml/2006/main">
            <a:pPr algn="ctr">
              <a:buNone/>
              <a:defRPr sz="1575" b="1">
                <a:solidFill>
                  <a:srgbClr val="172B3A"/>
                </a:solidFill>
                <a:latin typeface="Arial"/>
                <a:ea typeface="Arial"/>
                <a:cs typeface="Arial"/>
              </a:defRPr>
            </a:pPr>
            <a:r>
              <a:rPr sz="1575" b="1">
                <a:solidFill>
                  <a:srgbClr val="172B3A"/>
                </a:solidFill>
                <a:latin typeface="Arial"/>
                <a:ea typeface="Arial"/>
                <a:cs typeface="Arial"/>
              </a:rPr>
              <a:t>Infrastructure</a:t>
            </a:r>
          </a:p>
          <a:p xmlns:a="http://schemas.openxmlformats.org/drawingml/2006/main">
            <a:pPr algn="ctr">
              <a:buNone/>
              <a:defRPr sz="1575" b="1">
                <a:solidFill>
                  <a:srgbClr val="172B3A"/>
                </a:solidFill>
                <a:latin typeface="Arial"/>
                <a:ea typeface="Arial"/>
                <a:cs typeface="Arial"/>
              </a:defRPr>
            </a:pPr>
            <a:r>
              <a:rPr sz="1575" b="1">
                <a:solidFill>
                  <a:srgbClr val="172B3A"/>
                </a:solidFill>
                <a:latin typeface="Arial"/>
                <a:ea typeface="Arial"/>
                <a:cs typeface="Arial"/>
              </a:rPr>
              <a:t>EF Core + integrations</a:t>
            </a:r>
          </a:p>
        </p:txBody>
      </p:sp>
      <p:sp>
        <p:nvSpPr>
          <p:cNvPr id="9" name="sql">
            <a:extLst xmlns:a="http://schemas.openxmlformats.org/drawingml/2006/main">
              <a:ext uri="{FF2B5EF4-FFF2-40B4-BE49-F238E27FC236}">
                <a16:creationId xmlns:a16="http://schemas.microsoft.com/office/drawing/2014/main" id="{95FCF87A-78FE-4810-8205-95AFE020DD82}"/>
              </a:ext>
            </a:extLst>
          </p:cNvPr>
          <p:cNvSpPr>
            <a:spLocks xmlns:a="http://schemas.openxmlformats.org/drawingml/2006/main" noGrp="1"/>
          </p:cNvSpPr>
          <p:nvPr/>
        </p:nvSpPr>
        <p:spPr>
          <a:xfrm xmlns:a="http://schemas.openxmlformats.org/drawingml/2006/main">
            <a:off x="9906000" y="3638550"/>
            <a:ext cx="180975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2457A7"/>
            </a:solidFill>
            <a:prstDash val="solid"/>
          </a:ln>
        </p:spPr>
        <p:txBody>
          <a:bodyPr xmlns:a="http://schemas.openxmlformats.org/drawingml/2006/main" wrap="square" lIns="114300" tIns="76200" rIns="114300" bIns="76200" anchor="ctr">
            <a:normAutofit fontScale="100000"/>
          </a:bodyPr>
          <a:lstStyle xmlns:a="http://schemas.openxmlformats.org/drawingml/2006/main">
            <a:defPPr algn="ctr">
              <a:defRPr sz="1575" b="1">
                <a:solidFill>
                  <a:srgbClr val="172B3A"/>
                </a:solidFill>
                <a:latin typeface="Arial"/>
                <a:ea typeface="Arial"/>
                <a:cs typeface="Arial"/>
              </a:defRPr>
            </a:defPPr>
          </a:lstStyle>
          <a:p xmlns:a="http://schemas.openxmlformats.org/drawingml/2006/main">
            <a:pPr algn="ctr">
              <a:buNone/>
              <a:defRPr sz="1575" b="1">
                <a:solidFill>
                  <a:srgbClr val="172B3A"/>
                </a:solidFill>
                <a:latin typeface="Arial"/>
                <a:ea typeface="Arial"/>
                <a:cs typeface="Arial"/>
              </a:defRPr>
            </a:pPr>
            <a:r>
              <a:rPr sz="1575" b="1">
                <a:solidFill>
                  <a:srgbClr val="172B3A"/>
                </a:solidFill>
                <a:latin typeface="Arial"/>
                <a:ea typeface="Arial"/>
                <a:cs typeface="Arial"/>
              </a:rPr>
              <a:t>SQL Server</a:t>
            </a:r>
          </a:p>
        </p:txBody>
      </p:sp>
      <p:sp>
        <p:nvSpPr>
          <p:cNvPr id="10" name="providers">
            <a:extLst xmlns:a="http://schemas.openxmlformats.org/drawingml/2006/main">
              <a:ext uri="{FF2B5EF4-FFF2-40B4-BE49-F238E27FC236}">
                <a16:creationId xmlns:a16="http://schemas.microsoft.com/office/drawing/2014/main" id="{9E1529AD-0588-4283-B3D4-55BAF4A292C0}"/>
              </a:ext>
            </a:extLst>
          </p:cNvPr>
          <p:cNvSpPr>
            <a:spLocks xmlns:a="http://schemas.openxmlformats.org/drawingml/2006/main" noGrp="1"/>
          </p:cNvSpPr>
          <p:nvPr/>
        </p:nvSpPr>
        <p:spPr>
          <a:xfrm xmlns:a="http://schemas.openxmlformats.org/drawingml/2006/main">
            <a:off x="3429000" y="5276850"/>
            <a:ext cx="266700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2457A7"/>
            </a:solidFill>
            <a:prstDash val="solid"/>
          </a:ln>
        </p:spPr>
        <p:txBody>
          <a:bodyPr xmlns:a="http://schemas.openxmlformats.org/drawingml/2006/main" wrap="square" lIns="114300" tIns="76200" rIns="114300" bIns="76200" anchor="ctr">
            <a:normAutofit fontScale="100000"/>
          </a:bodyPr>
          <a:lstStyle xmlns:a="http://schemas.openxmlformats.org/drawingml/2006/main">
            <a:defPPr algn="ctr">
              <a:defRPr sz="1575" b="1">
                <a:solidFill>
                  <a:srgbClr val="172B3A"/>
                </a:solidFill>
                <a:latin typeface="Arial"/>
                <a:ea typeface="Arial"/>
                <a:cs typeface="Arial"/>
              </a:defRPr>
            </a:defPPr>
          </a:lstStyle>
          <a:p xmlns:a="http://schemas.openxmlformats.org/drawingml/2006/main">
            <a:pPr algn="ctr">
              <a:buNone/>
              <a:defRPr sz="1575" b="1">
                <a:solidFill>
                  <a:srgbClr val="172B3A"/>
                </a:solidFill>
                <a:latin typeface="Arial"/>
                <a:ea typeface="Arial"/>
                <a:cs typeface="Arial"/>
              </a:defRPr>
            </a:pPr>
            <a:r>
              <a:rPr sz="1575" b="1">
                <a:solidFill>
                  <a:srgbClr val="172B3A"/>
                </a:solidFill>
                <a:latin typeface="Arial"/>
                <a:ea typeface="Arial"/>
                <a:cs typeface="Arial"/>
              </a:rPr>
              <a:t>Configured AI, Search,</a:t>
            </a:r>
          </a:p>
          <a:p xmlns:a="http://schemas.openxmlformats.org/drawingml/2006/main">
            <a:pPr algn="ctr">
              <a:buNone/>
              <a:defRPr sz="1575" b="1">
                <a:solidFill>
                  <a:srgbClr val="172B3A"/>
                </a:solidFill>
                <a:latin typeface="Arial"/>
                <a:ea typeface="Arial"/>
                <a:cs typeface="Arial"/>
              </a:defRPr>
            </a:pPr>
            <a:r>
              <a:rPr sz="1575" b="1">
                <a:solidFill>
                  <a:srgbClr val="172B3A"/>
                </a:solidFill>
                <a:latin typeface="Arial"/>
                <a:ea typeface="Arial"/>
                <a:cs typeface="Arial"/>
              </a:rPr>
              <a:t>private media/storage</a:t>
            </a:r>
          </a:p>
        </p:txBody>
      </p:sp>
      <p:sp>
        <p:nvSpPr>
          <p:cNvPr id="11" name="service-bus">
            <a:extLst xmlns:a="http://schemas.openxmlformats.org/drawingml/2006/main">
              <a:ext uri="{FF2B5EF4-FFF2-40B4-BE49-F238E27FC236}">
                <a16:creationId xmlns:a16="http://schemas.microsoft.com/office/drawing/2014/main" id="{D0E91B2F-06A4-4D35-A32F-B3E729670C1A}"/>
              </a:ext>
            </a:extLst>
          </p:cNvPr>
          <p:cNvSpPr>
            <a:spLocks xmlns:a="http://schemas.openxmlformats.org/drawingml/2006/main" noGrp="1"/>
          </p:cNvSpPr>
          <p:nvPr/>
        </p:nvSpPr>
        <p:spPr>
          <a:xfrm xmlns:a="http://schemas.openxmlformats.org/drawingml/2006/main">
            <a:off x="7524750" y="5276850"/>
            <a:ext cx="21907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2457A7"/>
            </a:solidFill>
            <a:prstDash val="solid"/>
          </a:ln>
        </p:spPr>
        <p:txBody>
          <a:bodyPr xmlns:a="http://schemas.openxmlformats.org/drawingml/2006/main" wrap="square" lIns="114300" tIns="76200" rIns="114300" bIns="76200" anchor="ctr">
            <a:normAutofit fontScale="100000"/>
          </a:bodyPr>
          <a:lstStyle xmlns:a="http://schemas.openxmlformats.org/drawingml/2006/main">
            <a:defPPr algn="ctr">
              <a:defRPr sz="1575" b="1">
                <a:solidFill>
                  <a:srgbClr val="172B3A"/>
                </a:solidFill>
                <a:latin typeface="Arial"/>
                <a:ea typeface="Arial"/>
                <a:cs typeface="Arial"/>
              </a:defRPr>
            </a:defPPr>
          </a:lstStyle>
          <a:p xmlns:a="http://schemas.openxmlformats.org/drawingml/2006/main">
            <a:pPr algn="ctr">
              <a:buNone/>
              <a:defRPr sz="1575" b="1">
                <a:solidFill>
                  <a:srgbClr val="172B3A"/>
                </a:solidFill>
                <a:latin typeface="Arial"/>
                <a:ea typeface="Arial"/>
                <a:cs typeface="Arial"/>
              </a:defRPr>
            </a:pPr>
            <a:r>
              <a:rPr sz="1575" b="1">
                <a:solidFill>
                  <a:srgbClr val="172B3A"/>
                </a:solidFill>
                <a:latin typeface="Arial"/>
                <a:ea typeface="Arial"/>
                <a:cs typeface="Arial"/>
              </a:rPr>
              <a:t>Service Bus</a:t>
            </a:r>
          </a:p>
          <a:p xmlns:a="http://schemas.openxmlformats.org/drawingml/2006/main">
            <a:pPr algn="ctr">
              <a:buNone/>
              <a:defRPr sz="1575" b="1">
                <a:solidFill>
                  <a:srgbClr val="172B3A"/>
                </a:solidFill>
                <a:latin typeface="Arial"/>
                <a:ea typeface="Arial"/>
                <a:cs typeface="Arial"/>
              </a:defRPr>
            </a:pPr>
            <a:r>
              <a:rPr sz="1575" b="1">
                <a:solidFill>
                  <a:srgbClr val="172B3A"/>
                </a:solidFill>
                <a:latin typeface="Arial"/>
                <a:ea typeface="Arial"/>
                <a:cs typeface="Arial"/>
              </a:rPr>
              <a:t>selected jobs</a:t>
            </a:r>
          </a:p>
        </p:txBody>
      </p:sp>
      <p:sp>
        <p:nvSpPr>
          <p:cNvPr id="19" name="stack-note">
            <a:extLst xmlns:a="http://schemas.openxmlformats.org/drawingml/2006/main">
              <a:ext uri="{FF2B5EF4-FFF2-40B4-BE49-F238E27FC236}">
                <a16:creationId xmlns:a16="http://schemas.microsoft.com/office/drawing/2014/main" id="{726CB122-046E-4C17-A8FE-BC72A26E3AD9}"/>
              </a:ext>
            </a:extLst>
          </p:cNvPr>
          <p:cNvSpPr>
            <a:spLocks xmlns:a="http://schemas.openxmlformats.org/drawingml/2006/main" noGrp="1"/>
          </p:cNvSpPr>
          <p:nvPr/>
        </p:nvSpPr>
        <p:spPr>
          <a:xfrm xmlns:a="http://schemas.openxmlformats.org/drawingml/2006/main">
            <a:off x="571500" y="6267450"/>
            <a:ext cx="1028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0">
                <a:solidFill>
                  <a:srgbClr val="526475"/>
                </a:solidFill>
                <a:latin typeface="Arial"/>
                <a:ea typeface="Arial"/>
                <a:cs typeface="Arial"/>
              </a:defRPr>
            </a:defPPr>
          </a:lstStyle>
          <a:p xmlns:a="http://schemas.openxmlformats.org/drawingml/2006/main">
            <a:pPr algn="l">
              <a:lnSpc>
                <a:spcPct val="108000"/>
              </a:lnSpc>
              <a:buNone/>
              <a:defRPr sz="1200" b="0">
                <a:solidFill>
                  <a:srgbClr val="526475"/>
                </a:solidFill>
                <a:latin typeface="Arial"/>
                <a:ea typeface="Arial"/>
                <a:cs typeface="Arial"/>
              </a:defRPr>
            </a:pPr>
            <a:r>
              <a:rPr sz="1200" b="0">
                <a:solidFill>
                  <a:srgbClr val="526475"/>
                </a:solidFill>
                <a:latin typeface="Arial"/>
                <a:ea typeface="Arial"/>
                <a:cs typeface="Arial"/>
              </a:rPr>
              <a:t>C#, .NET 10, EF Core, SQL Server, Leaflet, SignalR, ML.NET, Docker, Azure Bicep</a:t>
            </a:r>
          </a:p>
        </p:txBody>
      </p:sp>
    </p:spTree>
    <p:extLst>
      <p:ext uri="{BB962C8B-B14F-4D97-AF65-F5344CB8AC3E}">
        <p14:creationId xmlns:p14="http://schemas.microsoft.com/office/powerpoint/2010/main" val="1078213969"/>
      </p:ext>
    </p:extLst>
  </p:cSld>
</p:sld>
</file>

<file path=ppt/slides/slide5.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6" name="slide-kicker">
            <a:extLst xmlns:a="http://schemas.openxmlformats.org/drawingml/2006/main">
              <a:ext uri="{FF2B5EF4-FFF2-40B4-BE49-F238E27FC236}">
                <a16:creationId xmlns:a16="http://schemas.microsoft.com/office/drawing/2014/main" id="{14704468-C83C-4795-B7A0-FECD82BA954E}"/>
              </a:ext>
            </a:extLst>
          </p:cNvPr>
          <p:cNvSpPr>
            <a:spLocks xmlns:a="http://schemas.openxmlformats.org/drawingml/2006/main" noGrp="1"/>
          </p:cNvSpPr>
          <p:nvPr/>
        </p:nvSpPr>
        <p:spPr>
          <a:xfrm xmlns:a="http://schemas.openxmlformats.org/drawingml/2006/main">
            <a:off x="552450" y="323850"/>
            <a:ext cx="647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050" b="1">
                <a:solidFill>
                  <a:srgbClr val="147D78"/>
                </a:solidFill>
                <a:latin typeface="Arial"/>
                <a:ea typeface="Arial"/>
                <a:cs typeface="Arial"/>
              </a:defRPr>
            </a:defPPr>
          </a:lstStyle>
          <a:p xmlns:a="http://schemas.openxmlformats.org/drawingml/2006/main">
            <a:pPr algn="l">
              <a:lnSpc>
                <a:spcPct val="108000"/>
              </a:lnSpc>
              <a:buNone/>
              <a:defRPr sz="1050" b="1">
                <a:solidFill>
                  <a:srgbClr val="147D78"/>
                </a:solidFill>
                <a:latin typeface="Arial"/>
                <a:ea typeface="Arial"/>
                <a:cs typeface="Arial"/>
              </a:defRPr>
            </a:pPr>
            <a:r>
              <a:rPr sz="1050" b="1">
                <a:solidFill>
                  <a:srgbClr val="147D78"/>
                </a:solidFill>
                <a:latin typeface="Arial"/>
                <a:ea typeface="Arial"/>
                <a:cs typeface="Arial"/>
              </a:rPr>
              <a:t>AI EMERGENCY RESPONSE</a:t>
            </a:r>
          </a:p>
        </p:txBody>
      </p:sp>
      <p:sp>
        <p:nvSpPr>
          <p:cNvPr id="2" name="slide-title">
            <a:extLst xmlns:a="http://schemas.openxmlformats.org/drawingml/2006/main">
              <a:ext uri="{FF2B5EF4-FFF2-40B4-BE49-F238E27FC236}">
                <a16:creationId xmlns:a16="http://schemas.microsoft.com/office/drawing/2014/main" id="{86DCA5B4-2999-45BE-B0B4-6A1D6A449D36}"/>
              </a:ext>
            </a:extLst>
          </p:cNvPr>
          <p:cNvSpPr>
            <a:spLocks xmlns:a="http://schemas.openxmlformats.org/drawingml/2006/main" noGrp="1"/>
          </p:cNvSpPr>
          <p:nvPr/>
        </p:nvSpPr>
        <p:spPr>
          <a:xfrm xmlns:a="http://schemas.openxmlformats.org/drawingml/2006/main">
            <a:off x="552450" y="685800"/>
            <a:ext cx="11049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150" b="1">
                <a:solidFill>
                  <a:srgbClr val="102A43"/>
                </a:solidFill>
                <a:latin typeface="Arial"/>
                <a:ea typeface="Arial"/>
                <a:cs typeface="Arial"/>
              </a:defRPr>
            </a:defPPr>
          </a:lstStyle>
          <a:p xmlns:a="http://schemas.openxmlformats.org/drawingml/2006/main">
            <a:pPr algn="l">
              <a:lnSpc>
                <a:spcPct val="108000"/>
              </a:lnSpc>
              <a:buNone/>
              <a:defRPr sz="3150" b="1">
                <a:solidFill>
                  <a:srgbClr val="102A43"/>
                </a:solidFill>
                <a:latin typeface="Arial"/>
                <a:ea typeface="Arial"/>
                <a:cs typeface="Arial"/>
              </a:defRPr>
            </a:pPr>
            <a:r>
              <a:rPr sz="3150" b="1">
                <a:solidFill>
                  <a:srgbClr val="102A43"/>
                </a:solidFill>
                <a:latin typeface="Arial"/>
                <a:ea typeface="Arial"/>
                <a:cs typeface="Arial"/>
              </a:rPr>
              <a:t>AI assistance, evidence, and permissions</a:t>
            </a:r>
          </a:p>
        </p:txBody>
      </p:sp>
      <p:sp>
        <p:nvSpPr>
          <p:cNvPr id="3" name="slide-number">
            <a:extLst xmlns:a="http://schemas.openxmlformats.org/drawingml/2006/main">
              <a:ext uri="{FF2B5EF4-FFF2-40B4-BE49-F238E27FC236}">
                <a16:creationId xmlns:a16="http://schemas.microsoft.com/office/drawing/2014/main" id="{6C7915BF-E55C-49E4-9584-2BEA1B72EB23}"/>
              </a:ext>
            </a:extLst>
          </p:cNvPr>
          <p:cNvSpPr>
            <a:spLocks xmlns:a="http://schemas.openxmlformats.org/drawingml/2006/main" noGrp="1"/>
          </p:cNvSpPr>
          <p:nvPr/>
        </p:nvSpPr>
        <p:spPr>
          <a:xfrm xmlns:a="http://schemas.openxmlformats.org/drawingml/2006/main">
            <a:off x="11163300" y="64008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1050" b="0">
                <a:solidFill>
                  <a:srgbClr val="526475"/>
                </a:solidFill>
                <a:latin typeface="Arial"/>
                <a:ea typeface="Arial"/>
                <a:cs typeface="Arial"/>
              </a:defRPr>
            </a:defPPr>
          </a:lstStyle>
          <a:p xmlns:a="http://schemas.openxmlformats.org/drawingml/2006/main">
            <a:pPr algn="r">
              <a:lnSpc>
                <a:spcPct val="108000"/>
              </a:lnSpc>
              <a:buNone/>
              <a:defRPr sz="1050" b="0">
                <a:solidFill>
                  <a:srgbClr val="526475"/>
                </a:solidFill>
                <a:latin typeface="Arial"/>
                <a:ea typeface="Arial"/>
                <a:cs typeface="Arial"/>
              </a:defRPr>
            </a:pPr>
            <a:r>
              <a:rPr sz="1050" b="0">
                <a:solidFill>
                  <a:srgbClr val="526475"/>
                </a:solidFill>
                <a:latin typeface="Arial"/>
                <a:ea typeface="Arial"/>
                <a:cs typeface="Arial"/>
              </a:rPr>
              <a:t>05</a:t>
            </a:r>
          </a:p>
        </p:txBody>
      </p:sp>
      <p:sp>
        <p:nvSpPr>
          <p:cNvPr id="4" name="ai-points">
            <a:extLst xmlns:a="http://schemas.openxmlformats.org/drawingml/2006/main">
              <a:ext uri="{FF2B5EF4-FFF2-40B4-BE49-F238E27FC236}">
                <a16:creationId xmlns:a16="http://schemas.microsoft.com/office/drawing/2014/main" id="{05DB2269-70FD-4370-A8A9-2C721B0F7B6A}"/>
              </a:ext>
            </a:extLst>
          </p:cNvPr>
          <p:cNvSpPr>
            <a:spLocks xmlns:a="http://schemas.openxmlformats.org/drawingml/2006/main" noGrp="1"/>
          </p:cNvSpPr>
          <p:nvPr/>
        </p:nvSpPr>
        <p:spPr>
          <a:xfrm xmlns:a="http://schemas.openxmlformats.org/drawingml/2006/main">
            <a:off x="819150" y="1524000"/>
            <a:ext cx="10334625" cy="3714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75" b="0">
                <a:solidFill>
                  <a:srgbClr val="172B3A"/>
                </a:solidFill>
                <a:latin typeface="Arial"/>
                <a:ea typeface="Arial"/>
                <a:cs typeface="Arial"/>
              </a:defRPr>
            </a:defPPr>
          </a:lstStyle>
          <a:p xmlns:a="http://schemas.openxmlformats.org/drawingml/2006/main">
            <a:pPr algn="l">
              <a:lnSpc>
                <a:spcPct val="122000"/>
              </a:lnSpc>
              <a:buNone/>
              <a:defRPr sz="1875" b="0">
                <a:solidFill>
                  <a:srgbClr val="172B3A"/>
                </a:solidFill>
                <a:latin typeface="Arial"/>
                <a:ea typeface="Arial"/>
                <a:cs typeface="Arial"/>
              </a:defRPr>
            </a:pPr>
            <a:r>
              <a:rPr sz="1875" b="0">
                <a:solidFill>
                  <a:srgbClr val="172B3A"/>
                </a:solidFill>
                <a:latin typeface="Arial"/>
                <a:ea typeface="Arial"/>
                <a:cs typeface="Arial"/>
              </a:rPr>
              <a:t>Configured AI and Search can support extraction and Copilot.</a:t>
            </a:r>
          </a:p>
          <a:p xmlns:a="http://schemas.openxmlformats.org/drawingml/2006/main">
            <a:r>
              <a:t/>
            </a:r>
          </a:p>
          <a:p xmlns:a="http://schemas.openxmlformats.org/drawingml/2006/main">
            <a:pPr algn="l">
              <a:lnSpc>
                <a:spcPct val="122000"/>
              </a:lnSpc>
              <a:buNone/>
              <a:defRPr sz="1875" b="0">
                <a:solidFill>
                  <a:srgbClr val="172B3A"/>
                </a:solidFill>
                <a:latin typeface="Arial"/>
                <a:ea typeface="Arial"/>
                <a:cs typeface="Arial"/>
              </a:defRPr>
            </a:pPr>
            <a:r>
              <a:rPr sz="1875" b="0">
                <a:solidFill>
                  <a:srgbClr val="172B3A"/>
                </a:solidFill>
                <a:latin typeface="Arial"/>
                <a:ea typeface="Arial"/>
                <a:cs typeface="Arial"/>
              </a:rPr>
              <a:t>Show the actual grounding and citation state.</a:t>
            </a:r>
          </a:p>
          <a:p xmlns:a="http://schemas.openxmlformats.org/drawingml/2006/main">
            <a:r>
              <a:t/>
            </a:r>
          </a:p>
          <a:p xmlns:a="http://schemas.openxmlformats.org/drawingml/2006/main">
            <a:pPr algn="l">
              <a:lnSpc>
                <a:spcPct val="122000"/>
              </a:lnSpc>
              <a:buNone/>
              <a:defRPr sz="1875" b="0">
                <a:solidFill>
                  <a:srgbClr val="172B3A"/>
                </a:solidFill>
                <a:latin typeface="Arial"/>
                <a:ea typeface="Arial"/>
                <a:cs typeface="Arial"/>
              </a:defRPr>
            </a:pPr>
            <a:r>
              <a:rPr sz="1875" b="0">
                <a:solidFill>
                  <a:srgbClr val="172B3A"/>
                </a:solidFill>
                <a:latin typeface="Arial"/>
                <a:ea typeface="Arial"/>
                <a:cs typeface="Arial"/>
              </a:rPr>
              <a:t>Deterministic rules calculate severity and priority.</a:t>
            </a:r>
          </a:p>
          <a:p xmlns:a="http://schemas.openxmlformats.org/drawingml/2006/main">
            <a:r>
              <a:t/>
            </a:r>
          </a:p>
          <a:p xmlns:a="http://schemas.openxmlformats.org/drawingml/2006/main">
            <a:pPr algn="l">
              <a:lnSpc>
                <a:spcPct val="122000"/>
              </a:lnSpc>
              <a:buNone/>
              <a:defRPr sz="1875" b="0">
                <a:solidFill>
                  <a:srgbClr val="172B3A"/>
                </a:solidFill>
                <a:latin typeface="Arial"/>
                <a:ea typeface="Arial"/>
                <a:cs typeface="Arial"/>
              </a:defRPr>
            </a:pPr>
            <a:r>
              <a:rPr sz="1875" b="0">
                <a:solidFill>
                  <a:srgbClr val="172B3A"/>
                </a:solidFill>
                <a:latin typeface="Arial"/>
                <a:ea typeface="Arial"/>
                <a:cs typeface="Arial"/>
              </a:rPr>
              <a:t>Proposals require explicit approval and revalidation.</a:t>
            </a:r>
          </a:p>
          <a:p xmlns:a="http://schemas.openxmlformats.org/drawingml/2006/main">
            <a:r>
              <a:t/>
            </a:r>
          </a:p>
          <a:p xmlns:a="http://schemas.openxmlformats.org/drawingml/2006/main">
            <a:pPr algn="l">
              <a:lnSpc>
                <a:spcPct val="122000"/>
              </a:lnSpc>
              <a:buNone/>
              <a:defRPr sz="1875" b="0">
                <a:solidFill>
                  <a:srgbClr val="172B3A"/>
                </a:solidFill>
                <a:latin typeface="Arial"/>
                <a:ea typeface="Arial"/>
                <a:cs typeface="Arial"/>
              </a:defRPr>
            </a:pPr>
            <a:r>
              <a:rPr sz="1875" b="0">
                <a:solidFill>
                  <a:srgbClr val="172B3A"/>
                </a:solidFill>
                <a:latin typeface="Arial"/>
                <a:ea typeface="Arial"/>
                <a:cs typeface="Arial"/>
              </a:rPr>
              <a:t>Current action executors support notes or tags, not dispatch.</a:t>
            </a:r>
          </a:p>
        </p:txBody>
      </p:sp>
      <p:sp>
        <p:nvSpPr>
          <p:cNvPr id="5" name="fixture-caveat">
            <a:extLst xmlns:a="http://schemas.openxmlformats.org/drawingml/2006/main">
              <a:ext uri="{FF2B5EF4-FFF2-40B4-BE49-F238E27FC236}">
                <a16:creationId xmlns:a16="http://schemas.microsoft.com/office/drawing/2014/main" id="{683D7019-2756-4B64-AF7B-DEE82A45E05B}"/>
              </a:ext>
            </a:extLst>
          </p:cNvPr>
          <p:cNvSpPr>
            <a:spLocks xmlns:a="http://schemas.openxmlformats.org/drawingml/2006/main" noGrp="1"/>
          </p:cNvSpPr>
          <p:nvPr/>
        </p:nvSpPr>
        <p:spPr>
          <a:xfrm xmlns:a="http://schemas.openxmlformats.org/drawingml/2006/main">
            <a:off x="819150" y="5657850"/>
            <a:ext cx="10334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00" b="1">
                <a:solidFill>
                  <a:srgbClr val="A85615"/>
                </a:solidFill>
                <a:latin typeface="Arial"/>
                <a:ea typeface="Arial"/>
                <a:cs typeface="Arial"/>
              </a:defRPr>
            </a:defPPr>
          </a:lstStyle>
          <a:p xmlns:a="http://schemas.openxmlformats.org/drawingml/2006/main">
            <a:pPr algn="l">
              <a:lnSpc>
                <a:spcPct val="108000"/>
              </a:lnSpc>
              <a:buNone/>
              <a:defRPr sz="1500" b="1">
                <a:solidFill>
                  <a:srgbClr val="A85615"/>
                </a:solidFill>
                <a:latin typeface="Arial"/>
                <a:ea typeface="Arial"/>
                <a:cs typeface="Arial"/>
              </a:defRPr>
            </a:pPr>
            <a:r>
              <a:rPr sz="1500" b="1">
                <a:solidFill>
                  <a:srgbClr val="A85615"/>
                </a:solidFill>
                <a:latin typeface="Arial"/>
                <a:ea typeface="Arial"/>
                <a:cs typeface="Arial"/>
              </a:rPr>
              <a:t>DEMO18 contains no generated AI output. Its flood group is manual; counts may overlap.</a:t>
            </a:r>
          </a:p>
        </p:txBody>
      </p:sp>
    </p:spTree>
    <p:extLst>
      <p:ext uri="{BB962C8B-B14F-4D97-AF65-F5344CB8AC3E}">
        <p14:creationId xmlns:p14="http://schemas.microsoft.com/office/powerpoint/2010/main" val="149297506"/>
      </p:ext>
    </p:extLst>
  </p:cSld>
</p:sld>
</file>

<file path=ppt/slides/slide6.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8" name="slide-kicker">
            <a:extLst xmlns:a="http://schemas.openxmlformats.org/drawingml/2006/main">
              <a:ext uri="{FF2B5EF4-FFF2-40B4-BE49-F238E27FC236}">
                <a16:creationId xmlns:a16="http://schemas.microsoft.com/office/drawing/2014/main" id="{9AD3BBEA-FCF9-4597-A67F-34DFC76F336C}"/>
              </a:ext>
            </a:extLst>
          </p:cNvPr>
          <p:cNvSpPr>
            <a:spLocks xmlns:a="http://schemas.openxmlformats.org/drawingml/2006/main" noGrp="1"/>
          </p:cNvSpPr>
          <p:nvPr/>
        </p:nvSpPr>
        <p:spPr>
          <a:xfrm xmlns:a="http://schemas.openxmlformats.org/drawingml/2006/main">
            <a:off x="552450" y="323850"/>
            <a:ext cx="647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050" b="1">
                <a:solidFill>
                  <a:srgbClr val="147D78"/>
                </a:solidFill>
                <a:latin typeface="Arial"/>
                <a:ea typeface="Arial"/>
                <a:cs typeface="Arial"/>
              </a:defRPr>
            </a:defPPr>
          </a:lstStyle>
          <a:p xmlns:a="http://schemas.openxmlformats.org/drawingml/2006/main">
            <a:pPr algn="l">
              <a:lnSpc>
                <a:spcPct val="108000"/>
              </a:lnSpc>
              <a:buNone/>
              <a:defRPr sz="1050" b="1">
                <a:solidFill>
                  <a:srgbClr val="147D78"/>
                </a:solidFill>
                <a:latin typeface="Arial"/>
                <a:ea typeface="Arial"/>
                <a:cs typeface="Arial"/>
              </a:defRPr>
            </a:pPr>
            <a:r>
              <a:rPr sz="1050" b="1">
                <a:solidFill>
                  <a:srgbClr val="147D78"/>
                </a:solidFill>
                <a:latin typeface="Arial"/>
                <a:ea typeface="Arial"/>
                <a:cs typeface="Arial"/>
              </a:rPr>
              <a:t>AI EMERGENCY RESPONSE</a:t>
            </a:r>
          </a:p>
        </p:txBody>
      </p:sp>
      <p:sp>
        <p:nvSpPr>
          <p:cNvPr id="2" name="slide-title">
            <a:extLst xmlns:a="http://schemas.openxmlformats.org/drawingml/2006/main">
              <a:ext uri="{FF2B5EF4-FFF2-40B4-BE49-F238E27FC236}">
                <a16:creationId xmlns:a16="http://schemas.microsoft.com/office/drawing/2014/main" id="{F0247969-88B1-454F-9F75-C6AF7E9E30DD}"/>
              </a:ext>
            </a:extLst>
          </p:cNvPr>
          <p:cNvSpPr>
            <a:spLocks xmlns:a="http://schemas.openxmlformats.org/drawingml/2006/main" noGrp="1"/>
          </p:cNvSpPr>
          <p:nvPr/>
        </p:nvSpPr>
        <p:spPr>
          <a:xfrm xmlns:a="http://schemas.openxmlformats.org/drawingml/2006/main">
            <a:off x="552450" y="685800"/>
            <a:ext cx="11049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150" b="1">
                <a:solidFill>
                  <a:srgbClr val="102A43"/>
                </a:solidFill>
                <a:latin typeface="Arial"/>
                <a:ea typeface="Arial"/>
                <a:cs typeface="Arial"/>
              </a:defRPr>
            </a:defPPr>
          </a:lstStyle>
          <a:p xmlns:a="http://schemas.openxmlformats.org/drawingml/2006/main">
            <a:pPr algn="l">
              <a:lnSpc>
                <a:spcPct val="108000"/>
              </a:lnSpc>
              <a:buNone/>
              <a:defRPr sz="3150" b="1">
                <a:solidFill>
                  <a:srgbClr val="102A43"/>
                </a:solidFill>
                <a:latin typeface="Arial"/>
                <a:ea typeface="Arial"/>
                <a:cs typeface="Arial"/>
              </a:defRPr>
            </a:pPr>
            <a:r>
              <a:rPr sz="3150" b="1">
                <a:solidFill>
                  <a:srgbClr val="102A43"/>
                </a:solidFill>
                <a:latin typeface="Arial"/>
                <a:ea typeface="Arial"/>
                <a:cs typeface="Arial"/>
              </a:rPr>
              <a:t>Engineering evidence and release status</a:t>
            </a:r>
          </a:p>
        </p:txBody>
      </p:sp>
      <p:sp>
        <p:nvSpPr>
          <p:cNvPr id="3" name="slide-number">
            <a:extLst xmlns:a="http://schemas.openxmlformats.org/drawingml/2006/main">
              <a:ext uri="{FF2B5EF4-FFF2-40B4-BE49-F238E27FC236}">
                <a16:creationId xmlns:a16="http://schemas.microsoft.com/office/drawing/2014/main" id="{BDEB8CD9-1EA0-447F-A0C9-49A4587E3ACF}"/>
              </a:ext>
            </a:extLst>
          </p:cNvPr>
          <p:cNvSpPr>
            <a:spLocks xmlns:a="http://schemas.openxmlformats.org/drawingml/2006/main" noGrp="1"/>
          </p:cNvSpPr>
          <p:nvPr/>
        </p:nvSpPr>
        <p:spPr>
          <a:xfrm xmlns:a="http://schemas.openxmlformats.org/drawingml/2006/main">
            <a:off x="11163300" y="640080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1050" b="0">
                <a:solidFill>
                  <a:srgbClr val="526475"/>
                </a:solidFill>
                <a:latin typeface="Arial"/>
                <a:ea typeface="Arial"/>
                <a:cs typeface="Arial"/>
              </a:defRPr>
            </a:defPPr>
          </a:lstStyle>
          <a:p xmlns:a="http://schemas.openxmlformats.org/drawingml/2006/main">
            <a:pPr algn="r">
              <a:lnSpc>
                <a:spcPct val="108000"/>
              </a:lnSpc>
              <a:buNone/>
              <a:defRPr sz="1050" b="0">
                <a:solidFill>
                  <a:srgbClr val="526475"/>
                </a:solidFill>
                <a:latin typeface="Arial"/>
                <a:ea typeface="Arial"/>
                <a:cs typeface="Arial"/>
              </a:defRPr>
            </a:pPr>
            <a:r>
              <a:rPr sz="1050" b="0">
                <a:solidFill>
                  <a:srgbClr val="526475"/>
                </a:solidFill>
                <a:latin typeface="Arial"/>
                <a:ea typeface="Arial"/>
                <a:cs typeface="Arial"/>
              </a:rPr>
              <a:t>06</a:t>
            </a:r>
          </a:p>
        </p:txBody>
      </p:sp>
      <p:sp>
        <p:nvSpPr>
          <p:cNvPr id="4" name="verified">
            <a:extLst xmlns:a="http://schemas.openxmlformats.org/drawingml/2006/main">
              <a:ext uri="{FF2B5EF4-FFF2-40B4-BE49-F238E27FC236}">
                <a16:creationId xmlns:a16="http://schemas.microsoft.com/office/drawing/2014/main" id="{5D74D1C4-942D-40CA-8D6E-8CAC7E77DB2E}"/>
              </a:ext>
            </a:extLst>
          </p:cNvPr>
          <p:cNvSpPr>
            <a:spLocks xmlns:a="http://schemas.openxmlformats.org/drawingml/2006/main" noGrp="1"/>
          </p:cNvSpPr>
          <p:nvPr/>
        </p:nvSpPr>
        <p:spPr>
          <a:xfrm xmlns:a="http://schemas.openxmlformats.org/drawingml/2006/main">
            <a:off x="685800" y="1504950"/>
            <a:ext cx="990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75" b="1">
                <a:solidFill>
                  <a:srgbClr val="147D78"/>
                </a:solidFill>
                <a:latin typeface="Arial"/>
                <a:ea typeface="Arial"/>
                <a:cs typeface="Arial"/>
              </a:defRPr>
            </a:defPPr>
          </a:lstStyle>
          <a:p xmlns:a="http://schemas.openxmlformats.org/drawingml/2006/main">
            <a:pPr algn="l">
              <a:lnSpc>
                <a:spcPct val="108000"/>
              </a:lnSpc>
              <a:buNone/>
              <a:defRPr sz="1875" b="1">
                <a:solidFill>
                  <a:srgbClr val="147D78"/>
                </a:solidFill>
                <a:latin typeface="Arial"/>
                <a:ea typeface="Arial"/>
                <a:cs typeface="Arial"/>
              </a:defRPr>
            </a:pPr>
            <a:r>
              <a:rPr sz="1875" b="1">
                <a:solidFill>
                  <a:srgbClr val="147D78"/>
                </a:solidFill>
                <a:latin typeface="Arial"/>
                <a:ea typeface="Arial"/>
                <a:cs typeface="Arial"/>
              </a:rPr>
              <a:t>Dated baseline checks, 17 Oct 2026</a:t>
            </a:r>
          </a:p>
        </p:txBody>
      </p:sp>
      <p:sp>
        <p:nvSpPr>
          <p:cNvPr id="5" name="test-counts">
            <a:extLst xmlns:a="http://schemas.openxmlformats.org/drawingml/2006/main">
              <a:ext uri="{FF2B5EF4-FFF2-40B4-BE49-F238E27FC236}">
                <a16:creationId xmlns:a16="http://schemas.microsoft.com/office/drawing/2014/main" id="{4DBAAAA3-6C4F-4247-A230-0C42AF59D378}"/>
              </a:ext>
            </a:extLst>
          </p:cNvPr>
          <p:cNvSpPr>
            <a:spLocks xmlns:a="http://schemas.openxmlformats.org/drawingml/2006/main" noGrp="1"/>
          </p:cNvSpPr>
          <p:nvPr/>
        </p:nvSpPr>
        <p:spPr>
          <a:xfrm xmlns:a="http://schemas.openxmlformats.org/drawingml/2006/main">
            <a:off x="742950" y="2076450"/>
            <a:ext cx="1000125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0">
                <a:solidFill>
                  <a:srgbClr val="172B3A"/>
                </a:solidFill>
                <a:latin typeface="Arial"/>
                <a:ea typeface="Arial"/>
                <a:cs typeface="Arial"/>
              </a:defRPr>
            </a:defPPr>
          </a:lstStyle>
          <a:p xmlns:a="http://schemas.openxmlformats.org/drawingml/2006/main">
            <a:pPr algn="l">
              <a:lnSpc>
                <a:spcPct val="120000"/>
              </a:lnSpc>
              <a:buNone/>
              <a:defRPr sz="1725" b="0">
                <a:solidFill>
                  <a:srgbClr val="172B3A"/>
                </a:solidFill>
                <a:latin typeface="Arial"/>
                <a:ea typeface="Arial"/>
                <a:cs typeface="Arial"/>
              </a:defRPr>
            </a:pPr>
            <a:r>
              <a:rPr sz="1725" b="0">
                <a:solidFill>
                  <a:srgbClr val="172B3A"/>
                </a:solidFill>
                <a:latin typeface="Arial"/>
                <a:ea typeface="Arial"/>
                <a:cs typeface="Arial"/>
              </a:rPr>
              <a:t>Release build passed before later C# edits</a:t>
            </a:r>
          </a:p>
          <a:p xmlns:a="http://schemas.openxmlformats.org/drawingml/2006/main">
            <a:pPr algn="l">
              <a:lnSpc>
                <a:spcPct val="120000"/>
              </a:lnSpc>
              <a:buNone/>
              <a:defRPr sz="1725" b="0">
                <a:solidFill>
                  <a:srgbClr val="172B3A"/>
                </a:solidFill>
                <a:latin typeface="Arial"/>
                <a:ea typeface="Arial"/>
                <a:cs typeface="Arial"/>
              </a:defRPr>
            </a:pPr>
            <a:r>
              <a:rPr sz="1725" b="0">
                <a:solidFill>
                  <a:srgbClr val="172B3A"/>
                </a:solidFill>
                <a:latin typeface="Arial"/>
                <a:ea typeface="Arial"/>
                <a:cs typeface="Arial"/>
              </a:rPr>
              <a:t>Baseline: 572 unit, 89 SQL tests passed</a:t>
            </a:r>
          </a:p>
          <a:p xmlns:a="http://schemas.openxmlformats.org/drawingml/2006/main">
            <a:pPr algn="l">
              <a:lnSpc>
                <a:spcPct val="120000"/>
              </a:lnSpc>
              <a:buNone/>
              <a:defRPr sz="1725" b="0">
                <a:solidFill>
                  <a:srgbClr val="172B3A"/>
                </a:solidFill>
                <a:latin typeface="Arial"/>
                <a:ea typeface="Arial"/>
                <a:cs typeface="Arial"/>
              </a:defRPr>
            </a:pPr>
            <a:r>
              <a:rPr sz="1725" b="0">
                <a:solidFill>
                  <a:srgbClr val="172B3A"/>
                </a:solidFill>
                <a:latin typeface="Arial"/>
                <a:ea typeface="Arial"/>
                <a:cs typeface="Arial"/>
              </a:rPr>
              <a:t>28 UI and 4 JavaScript syntax checks passed</a:t>
            </a:r>
          </a:p>
        </p:txBody>
      </p:sp>
      <p:sp>
        <p:nvSpPr>
          <p:cNvPr id="6" name="readiness">
            <a:extLst xmlns:a="http://schemas.openxmlformats.org/drawingml/2006/main">
              <a:ext uri="{FF2B5EF4-FFF2-40B4-BE49-F238E27FC236}">
                <a16:creationId xmlns:a16="http://schemas.microsoft.com/office/drawing/2014/main" id="{F280F41F-C3A3-437D-96F0-739EF5E111A2}"/>
              </a:ext>
            </a:extLst>
          </p:cNvPr>
          <p:cNvSpPr>
            <a:spLocks xmlns:a="http://schemas.openxmlformats.org/drawingml/2006/main" noGrp="1"/>
          </p:cNvSpPr>
          <p:nvPr/>
        </p:nvSpPr>
        <p:spPr>
          <a:xfrm xmlns:a="http://schemas.openxmlformats.org/drawingml/2006/main">
            <a:off x="742950" y="3886200"/>
            <a:ext cx="102870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102A43"/>
                </a:solidFill>
                <a:latin typeface="Arial"/>
                <a:ea typeface="Arial"/>
                <a:cs typeface="Arial"/>
              </a:defRPr>
            </a:defPPr>
          </a:lstStyle>
          <a:p xmlns:a="http://schemas.openxmlformats.org/drawingml/2006/main">
            <a:pPr algn="l">
              <a:lnSpc>
                <a:spcPct val="120000"/>
              </a:lnSpc>
              <a:buNone/>
              <a:defRPr sz="1650" b="0">
                <a:solidFill>
                  <a:srgbClr val="102A43"/>
                </a:solidFill>
                <a:latin typeface="Arial"/>
                <a:ea typeface="Arial"/>
                <a:cs typeface="Arial"/>
              </a:defRPr>
            </a:pPr>
            <a:r>
              <a:rPr sz="1650" b="0">
                <a:solidFill>
                  <a:srgbClr val="102A43"/>
                </a:solidFill>
                <a:latin typeface="Arial"/>
                <a:ea typeface="Arial"/>
                <a:cs typeface="Arial"/>
              </a:rPr>
              <a:t>No verified public host or Azure deployment.</a:t>
            </a:r>
          </a:p>
          <a:p xmlns:a="http://schemas.openxmlformats.org/drawingml/2006/main">
            <a:pPr algn="l">
              <a:lnSpc>
                <a:spcPct val="120000"/>
              </a:lnSpc>
              <a:buNone/>
              <a:defRPr sz="1650" b="0">
                <a:solidFill>
                  <a:srgbClr val="102A43"/>
                </a:solidFill>
                <a:latin typeface="Arial"/>
                <a:ea typeface="Arial"/>
                <a:cs typeface="Arial"/>
              </a:defRPr>
            </a:pPr>
            <a:r>
              <a:rPr sz="1650" b="0">
                <a:solidFill>
                  <a:srgbClr val="102A43"/>
                </a:solidFill>
                <a:latin typeface="Arial"/>
                <a:ea typeface="Arial"/>
                <a:cs typeface="Arial"/>
              </a:rPr>
              <a:t>Selected desktop views; responsive tests pending.</a:t>
            </a:r>
          </a:p>
          <a:p xmlns:a="http://schemas.openxmlformats.org/drawingml/2006/main">
            <a:pPr algn="l">
              <a:lnSpc>
                <a:spcPct val="120000"/>
              </a:lnSpc>
              <a:buNone/>
              <a:defRPr sz="1650" b="0">
                <a:solidFill>
                  <a:srgbClr val="102A43"/>
                </a:solidFill>
                <a:latin typeface="Arial"/>
                <a:ea typeface="Arial"/>
                <a:cs typeface="Arial"/>
              </a:defRPr>
            </a:pPr>
            <a:r>
              <a:rPr sz="1650" b="0">
                <a:solidFill>
                  <a:srgbClr val="102A43"/>
                </a:solidFill>
                <a:latin typeface="Arial"/>
                <a:ea typeface="Arial"/>
                <a:cs typeface="Arial"/>
              </a:rPr>
              <a:t>Operational pilot remains NO-GO.</a:t>
            </a:r>
          </a:p>
          <a:p xmlns:a="http://schemas.openxmlformats.org/drawingml/2006/main">
            <a:pPr algn="l">
              <a:lnSpc>
                <a:spcPct val="120000"/>
              </a:lnSpc>
              <a:buNone/>
              <a:defRPr sz="1650" b="0">
                <a:solidFill>
                  <a:srgbClr val="102A43"/>
                </a:solidFill>
                <a:latin typeface="Arial"/>
                <a:ea typeface="Arial"/>
                <a:cs typeface="Arial"/>
              </a:defRPr>
            </a:pPr>
            <a:r>
              <a:rPr sz="1650" b="0">
                <a:solidFill>
                  <a:srgbClr val="102A43"/>
                </a:solidFill>
                <a:latin typeface="Arial"/>
                <a:ea typeface="Arial"/>
                <a:cs typeface="Arial"/>
              </a:rPr>
              <a:t>Development startup applies pending migrations.</a:t>
            </a:r>
          </a:p>
        </p:txBody>
      </p:sp>
      <p:sp>
        <p:nvSpPr>
          <p:cNvPr id="7" name="close">
            <a:extLst xmlns:a="http://schemas.openxmlformats.org/drawingml/2006/main">
              <a:ext uri="{FF2B5EF4-FFF2-40B4-BE49-F238E27FC236}">
                <a16:creationId xmlns:a16="http://schemas.microsoft.com/office/drawing/2014/main" id="{C06B32A6-0BFA-4ED3-B503-7F2CCC8E2A8B}"/>
              </a:ext>
            </a:extLst>
          </p:cNvPr>
          <p:cNvSpPr>
            <a:spLocks xmlns:a="http://schemas.openxmlformats.org/drawingml/2006/main" noGrp="1"/>
          </p:cNvSpPr>
          <p:nvPr/>
        </p:nvSpPr>
        <p:spPr>
          <a:xfrm xmlns:a="http://schemas.openxmlformats.org/drawingml/2006/main">
            <a:off x="742950" y="5753100"/>
            <a:ext cx="10382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425" b="1">
                <a:solidFill>
                  <a:srgbClr val="2457A7"/>
                </a:solidFill>
                <a:latin typeface="Arial"/>
                <a:ea typeface="Arial"/>
                <a:cs typeface="Arial"/>
              </a:defRPr>
            </a:defPPr>
          </a:lstStyle>
          <a:p xmlns:a="http://schemas.openxmlformats.org/drawingml/2006/main">
            <a:pPr algn="l">
              <a:lnSpc>
                <a:spcPct val="108000"/>
              </a:lnSpc>
              <a:buNone/>
              <a:defRPr sz="1425" b="1">
                <a:solidFill>
                  <a:srgbClr val="2457A7"/>
                </a:solidFill>
                <a:latin typeface="Arial"/>
                <a:ea typeface="Arial"/>
                <a:cs typeface="Arial"/>
              </a:defRPr>
            </a:pPr>
            <a:r>
              <a:rPr sz="1425" b="1">
                <a:solidFill>
                  <a:srgbClr val="2457A7"/>
                </a:solidFill>
                <a:latin typeface="Arial"/>
                <a:ea typeface="Arial"/>
                <a:cs typeface="Arial"/>
              </a:rPr>
              <a:t>Resource view still loading; Copilot response absent.</a:t>
            </a:r>
          </a:p>
        </p:txBody>
      </p:sp>
    </p:spTree>
    <p:extLst>
      <p:ext uri="{BB962C8B-B14F-4D97-AF65-F5344CB8AC3E}">
        <p14:creationId xmlns:p14="http://schemas.microsoft.com/office/powerpoint/2010/main" val="3333134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2026-10-18T09:14:50.4710000Z</dcterms:created>
  <dcterms:modified xsi:type="dcterms:W3CDTF">2026-10-18T09:14:50.4710000Z</dcterms:modified>
</coreProperties>
</file>