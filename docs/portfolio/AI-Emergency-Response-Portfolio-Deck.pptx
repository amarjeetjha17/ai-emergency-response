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6a2703cdde42a3" /><Relationship Type="http://schemas.openxmlformats.org/officeDocument/2006/relationships/extended-properties" Target="/docProps/app.xml" Id="Rb57ef7bcf9844156" /><Relationship Type="http://schemas.openxmlformats.org/officeDocument/2006/relationships/officeDocument" Target="/ppt/presentation.xml" Id="R60efd97e71e2457d" /></Relationships>
</file>

<file path=ppt/presentation.xml><?xml version="1.0" encoding="utf-8"?>
<p:presentation xmlns:p="http://schemas.openxmlformats.org/presentationml/2006/main">
  <p:sldMasterIdLst>
    <p:sldMasterId xmlns:r="http://schemas.openxmlformats.org/officeDocument/2006/relationships" id="2147483648" r:id="Rdc43138b0feb4a12"/>
  </p:sldMasterIdLst>
  <p:notesMasterIdLst>
    <p:notesMasterId xmlns:r="http://schemas.openxmlformats.org/officeDocument/2006/relationships" r:id="Rbf90043922f54994"/>
  </p:notesMasterIdLst>
  <p:sldIdLst>
    <p:sldId xmlns:r="http://schemas.openxmlformats.org/officeDocument/2006/relationships" id="256" r:id="R73de42d129dc4596"/>
    <p:sldId xmlns:r="http://schemas.openxmlformats.org/officeDocument/2006/relationships" id="257" r:id="R64744968246444d2"/>
    <p:sldId xmlns:r="http://schemas.openxmlformats.org/officeDocument/2006/relationships" id="258" r:id="R5332397a75214928"/>
    <p:sldId xmlns:r="http://schemas.openxmlformats.org/officeDocument/2006/relationships" id="259" r:id="Rca2650aa3b2142f1"/>
    <p:sldId xmlns:r="http://schemas.openxmlformats.org/officeDocument/2006/relationships" id="260" r:id="R69c36b6dd828463d"/>
    <p:sldId xmlns:r="http://schemas.openxmlformats.org/officeDocument/2006/relationships" id="261" r:id="R0dff8d938cd140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320a552f5749c7" /><Relationship Type="http://schemas.openxmlformats.org/officeDocument/2006/relationships/slideMaster" Target="/ppt/slideMasters/slideMaster1.xml" Id="Rdc43138b0feb4a12" /><Relationship Type="http://schemas.openxmlformats.org/officeDocument/2006/relationships/notesMaster" Target="/ppt/notesMasters/notesMaster1.xml" Id="Rbf90043922f54994" /><Relationship Type="http://schemas.openxmlformats.org/officeDocument/2006/relationships/presProps" Target="/ppt/presProps.xml" Id="R3f2daeabd21344e8" /><Relationship Type="http://schemas.openxmlformats.org/officeDocument/2006/relationships/tableStyles" Target="/ppt/tableStyles.xml" Id="R5c7a875d8e3448e3" /><Relationship Type="http://schemas.openxmlformats.org/officeDocument/2006/relationships/slide" Target="/ppt/slides/slide1.xml" Id="R73de42d129dc4596" /><Relationship Type="http://schemas.openxmlformats.org/officeDocument/2006/relationships/slide" Target="/ppt/slides/slide2.xml" Id="R64744968246444d2" /><Relationship Type="http://schemas.openxmlformats.org/officeDocument/2006/relationships/slide" Target="/ppt/slides/slide3.xml" Id="R5332397a75214928" /><Relationship Type="http://schemas.openxmlformats.org/officeDocument/2006/relationships/slide" Target="/ppt/slides/slide4.xml" Id="Rca2650aa3b2142f1" /><Relationship Type="http://schemas.openxmlformats.org/officeDocument/2006/relationships/slide" Target="/ppt/slides/slide5.xml" Id="R69c36b6dd828463d" /><Relationship Type="http://schemas.openxmlformats.org/officeDocument/2006/relationships/slide" Target="/ppt/slides/slide6.xml" Id="R0dff8d938cd140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b497d027f743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f7ca05d58d4c09" /><Relationship Type="http://schemas.openxmlformats.org/officeDocument/2006/relationships/notesMaster" Target="/ppt/notesMasters/notesMaster1.xml" Id="R39c4bc9e6e734c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b22ae5fa224c6d" /><Relationship Type="http://schemas.openxmlformats.org/officeDocument/2006/relationships/notesMaster" Target="/ppt/notesMasters/notesMaster1.xml" Id="R02937779850a42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248d8df2d84a88" /><Relationship Type="http://schemas.openxmlformats.org/officeDocument/2006/relationships/notesMaster" Target="/ppt/notesMasters/notesMaster1.xml" Id="Rf20f5c4f93c244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c216c13b0f433e" /><Relationship Type="http://schemas.openxmlformats.org/officeDocument/2006/relationships/notesMaster" Target="/ppt/notesMasters/notesMaster1.xml" Id="R8e1815c4cc7442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14430a1d5f452a" /><Relationship Type="http://schemas.openxmlformats.org/officeDocument/2006/relationships/notesMaster" Target="/ppt/notesMasters/notesMaster1.xml" Id="R39b9480a6f2b45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e52dc7d4d342dd" /><Relationship Type="http://schemas.openxmlformats.org/officeDocument/2006/relationships/notesMaster" Target="/ppt/notesMasters/notesMaster1.xml" Id="R6f1179538f144d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Describe the difficulty of coordinating incomplete, overlapping incident reports and changing resource context. State that this is a local synthetic-data portfolio demo. The application is not hosted as a verified public demo, is not connected to emergency authorities, and is not approved for real emergency operations. Sources: README.md; docs/portfolio/feature-verification.md.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reports contain observations, not confirmed facts. Unknown values remain unknown. The DEMO18 situation manually groups three potentially overlapping reports. It is not a confirmed duplicate, AI summary, or automatic clustering result. Routes and permission boundaries are described in the source controllers and docs/portfolio/demo-walkthrough.md.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genuine image from docs/portfolio/screenshots/live-map.png, supplied and indexed from a local Chrome session on 2026-10-15. It predates UI changes in Parts 2.3.4–2.3.5. It shows map tiles/layers and six synthetic incidents/resources, but not selected-report drawer behavior, layer toggling, a complete attribution area, or reconnect. It is limited historical evidence, not a current final-state screenshot. Source: docs/portfolio/screenshots/README.md.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calls the MVC Web app and connects directly to the API SignalR hub. The API depends on Application and Infrastructure layers. SQL Server persists application data and the transactional outbox. Azure AI, Search, storage, and Service Bus require configuration. Selected consumers run inside the API; there is no standalone Worker host, and some queues remain in process. The diagram uses editable native PowerPoint shapes and connectors. Source: README.md and docs/architecture.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normal Development host does not provide a fake AI provider. Only ask a Copilot question when configured services and an approved synthetic source are available; otherwise show the unavailable state. Do not fabricate citations or forecasts. DEMO18's three flood-related reports are manually grouped and not confirmed duplicates. A seeded notification record does not prove message delivery. Sources: docs/portfolio/synthetic-demo-data.md; docs/portfolio/demo-walkthrough.md; Copilot controller and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checks are from the actual 2026-10-17 Phase 2.3.6 run; they do not prove UI rendering, provider quality, performance at scale, or production readiness. The user has since supplied a local Development startup error: SQL Server reports missing DataClassification at AdminSeeder. Migration 20261008095318_AddDataClassification exists, but the configured DB/history was not inspected and no migration was applied. Verify the exact target before applying reviewed pending migrations. Azure deployment is out of scope. Sources: docs/portfolio/ui-ux-verification.md; docs/portfolio/feature-verification.md; docs/portfolio/demo-script.md.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ee6c5541424a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52b6fddb7c4b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9fa1ae1c8349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d387c2be3048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1775ffbce744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c7961b390294d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1177BA-EC67-4B2E-A3BD-DD64278C53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8A4A58-E339-47DE-964B-043FCEFF47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7C2723-BE48-4B35-9E09-6B240519CB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C44C94-60F8-4EF7-ABBC-CC229A1A45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B5B250-2072-4100-88CC-8D81A6B73C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CD4B21-9453-42A9-8B54-2320F2597C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C5FC23-2111-4E8B-9102-8628A905C2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ADE911-494A-4C30-BE90-BEAF6E5984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9FE390-68C5-4229-B782-4C93FB2ADE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33DE76-4284-44D7-9535-D8ED64488D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6e380433f641e2" /><Relationship Type="http://schemas.openxmlformats.org/officeDocument/2006/relationships/slideLayout" Target="/ppt/slideLayouts/slideLayout1.xml" Id="Ref9bdce046764bc8" /><Relationship Type="http://schemas.openxmlformats.org/officeDocument/2006/relationships/slideLayout" Target="/ppt/slideLayouts/slideLayout2.xml" Id="Re7cc79ebec1f46f8" /><Relationship Type="http://schemas.openxmlformats.org/officeDocument/2006/relationships/slideLayout" Target="/ppt/slideLayouts/slideLayout3.xml" Id="R77eec236fdef4b57" /><Relationship Type="http://schemas.openxmlformats.org/officeDocument/2006/relationships/slideLayout" Target="/ppt/slideLayouts/slideLayout4.xml" Id="R37c47147090940d1" /><Relationship Type="http://schemas.openxmlformats.org/officeDocument/2006/relationships/slideLayout" Target="/ppt/slideLayouts/slideLayout5.xml" Id="Rf7a5ebb5ddaf4c01" /><Relationship Type="http://schemas.openxmlformats.org/officeDocument/2006/relationships/slideLayout" Target="/ppt/slideLayouts/slideLayout6.xml" Id="Rc7ef5442b1a44f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9bdce046764bc8"/>
    <p:sldLayoutId xmlns:r="http://schemas.openxmlformats.org/officeDocument/2006/relationships" id="2147483650" r:id="Re7cc79ebec1f46f8"/>
    <p:sldLayoutId xmlns:r="http://schemas.openxmlformats.org/officeDocument/2006/relationships" id="2147483651" r:id="R77eec236fdef4b57"/>
    <p:sldLayoutId xmlns:r="http://schemas.openxmlformats.org/officeDocument/2006/relationships" id="2147483652" r:id="R37c47147090940d1"/>
    <p:sldLayoutId xmlns:r="http://schemas.openxmlformats.org/officeDocument/2006/relationships" id="2147483653" r:id="Rf7a5ebb5ddaf4c01"/>
    <p:sldLayoutId xmlns:r="http://schemas.openxmlformats.org/officeDocument/2006/relationships" id="2147483654" r:id="Rc7ef5442b1a44f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06c479b5444aef" /><Relationship Type="http://schemas.openxmlformats.org/officeDocument/2006/relationships/notesSlide" Target="/ppt/notesSlides/notesSlide1.xml" Id="Ra2da43018a114a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c789fa0f0524ec8" /><Relationship Type="http://schemas.openxmlformats.org/officeDocument/2006/relationships/notesSlide" Target="/ppt/notesSlides/notesSlide2.xml" Id="Rfc0774edef7446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2ee8a27e564995" /><Relationship Type="http://schemas.openxmlformats.org/officeDocument/2006/relationships/image" Target="/ppt/media/image.png" Id="R48dc944fd0ab412a" /><Relationship Type="http://schemas.openxmlformats.org/officeDocument/2006/relationships/notesSlide" Target="/ppt/notesSlides/notesSlide3.xml" Id="R719b31c9fff840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8f426e53b94b29" /><Relationship Type="http://schemas.openxmlformats.org/officeDocument/2006/relationships/notesSlide" Target="/ppt/notesSlides/notesSlide4.xml" Id="R22ea519e40084b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b7d24563ae4d2c" /><Relationship Type="http://schemas.openxmlformats.org/officeDocument/2006/relationships/notesSlide" Target="/ppt/notesSlides/notesSlide5.xml" Id="R01ca71c3406443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2ebc2fb43f4f3e" /><Relationship Type="http://schemas.openxmlformats.org/officeDocument/2006/relationships/notesSlide" Target="/ppt/notesSlides/notesSlide6.xml" Id="Rf3299a9284884274"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C454FA-49E8-40D5-998E-E16BF7107191}"/>
              </a:ext>
            </a:extLst>
          </p:cNvPr>
          <p:cNvSpPr>
            <a:spLocks xmlns:a="http://schemas.openxmlformats.org/drawingml/2006/main" noGrp="1"/>
          </p:cNvSpPr>
          <p:nvPr/>
        </p:nvSpPr>
        <p:spPr>
          <a:xfrm xmlns:a="http://schemas.openxmlformats.org/drawingml/2006/main">
            <a:off x="781050" y="14668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lnSpc>
                <a:spcPct val="98000"/>
              </a:lnSpc>
              <a:buNone/>
              <a:defRPr sz="4650" b="1">
                <a:solidFill>
                  <a:srgbClr val="FFFFFF"/>
                </a:solidFill>
                <a:latin typeface="Arial"/>
                <a:ea typeface="Arial"/>
                <a:cs typeface="Arial"/>
              </a:defRPr>
            </a:pPr>
            <a:r>
              <a:rPr sz="4650" b="1">
                <a:solidFill>
                  <a:srgbClr val="FFFFFF"/>
                </a:solidFill>
                <a:latin typeface="Arial"/>
                <a:ea typeface="Arial"/>
                <a:cs typeface="Arial"/>
              </a:rPr>
              <a:t>AI Emergency Response</a:t>
            </a:r>
          </a:p>
          <a:p xmlns:a="http://schemas.openxmlformats.org/drawingml/2006/main">
            <a:pPr algn="l">
              <a:lnSpc>
                <a:spcPct val="98000"/>
              </a:lnSpc>
              <a:buNone/>
              <a:defRPr sz="4650" b="1">
                <a:solidFill>
                  <a:srgbClr val="FFFFFF"/>
                </a:solidFill>
                <a:latin typeface="Arial"/>
                <a:ea typeface="Arial"/>
                <a:cs typeface="Arial"/>
              </a:defRPr>
            </a:pPr>
            <a:r>
              <a:rPr sz="4650" b="1">
                <a:solidFill>
                  <a:srgbClr val="FFFFFF"/>
                </a:solidFill>
                <a:latin typeface="Arial"/>
                <a:ea typeface="Arial"/>
                <a:cs typeface="Arial"/>
              </a:rPr>
              <a:t>&amp; Disaster Management</a:t>
            </a:r>
          </a:p>
        </p:txBody>
      </p:sp>
      <p:sp>
        <p:nvSpPr>
          <p:cNvPr id="2" name="subtitle">
            <a:extLst xmlns:a="http://schemas.openxmlformats.org/drawingml/2006/main">
              <a:ext uri="{FF2B5EF4-FFF2-40B4-BE49-F238E27FC236}">
                <a16:creationId xmlns:a16="http://schemas.microsoft.com/office/drawing/2014/main" id="{03BA9BCD-A319-46B0-A8CC-9E5BEEC055E8}"/>
              </a:ext>
            </a:extLst>
          </p:cNvPr>
          <p:cNvSpPr>
            <a:spLocks xmlns:a="http://schemas.openxmlformats.org/drawingml/2006/main" noGrp="1"/>
          </p:cNvSpPr>
          <p:nvPr/>
        </p:nvSpPr>
        <p:spPr>
          <a:xfrm xmlns:a="http://schemas.openxmlformats.org/drawingml/2006/main">
            <a:off x="819150" y="35433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C8D9E8"/>
                </a:solidFill>
                <a:latin typeface="Arial"/>
                <a:ea typeface="Arial"/>
                <a:cs typeface="Arial"/>
              </a:defRPr>
            </a:defPPr>
          </a:lstStyle>
          <a:p xmlns:a="http://schemas.openxmlformats.org/drawingml/2006/main">
            <a:pPr algn="l">
              <a:lnSpc>
                <a:spcPct val="108000"/>
              </a:lnSpc>
              <a:buNone/>
              <a:defRPr sz="1875" b="0">
                <a:solidFill>
                  <a:srgbClr val="C8D9E8"/>
                </a:solidFill>
                <a:latin typeface="Arial"/>
                <a:ea typeface="Arial"/>
                <a:cs typeface="Arial"/>
              </a:defRPr>
            </a:pPr>
            <a:r>
              <a:rPr sz="1875" b="0">
                <a:solidFill>
                  <a:srgbClr val="C8D9E8"/>
                </a:solidFill>
                <a:latin typeface="Arial"/>
                <a:ea typeface="Arial"/>
                <a:cs typeface="Arial"/>
              </a:rPr>
              <a:t>Portfolio project. Local synthetic-data demonstration.</a:t>
            </a:r>
          </a:p>
        </p:txBody>
      </p:sp>
      <p:sp>
        <p:nvSpPr>
          <p:cNvPr id="3" name="stack">
            <a:extLst xmlns:a="http://schemas.openxmlformats.org/drawingml/2006/main">
              <a:ext uri="{FF2B5EF4-FFF2-40B4-BE49-F238E27FC236}">
                <a16:creationId xmlns:a16="http://schemas.microsoft.com/office/drawing/2014/main" id="{8B37D051-3C31-4D2E-B8C4-7629C6B26C04}"/>
              </a:ext>
            </a:extLst>
          </p:cNvPr>
          <p:cNvSpPr>
            <a:spLocks xmlns:a="http://schemas.openxmlformats.org/drawingml/2006/main" noGrp="1"/>
          </p:cNvSpPr>
          <p:nvPr/>
        </p:nvSpPr>
        <p:spPr>
          <a:xfrm xmlns:a="http://schemas.openxmlformats.org/drawingml/2006/main">
            <a:off x="819150" y="417195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AFC7DA"/>
                </a:solidFill>
                <a:latin typeface="Arial"/>
                <a:ea typeface="Arial"/>
                <a:cs typeface="Arial"/>
              </a:defRPr>
            </a:defPPr>
          </a:lstStyle>
          <a:p xmlns:a="http://schemas.openxmlformats.org/drawingml/2006/main">
            <a:pPr algn="l">
              <a:lnSpc>
                <a:spcPct val="108000"/>
              </a:lnSpc>
              <a:buNone/>
              <a:defRPr sz="1575" b="0">
                <a:solidFill>
                  <a:srgbClr val="AFC7DA"/>
                </a:solidFill>
                <a:latin typeface="Arial"/>
                <a:ea typeface="Arial"/>
                <a:cs typeface="Arial"/>
              </a:defRPr>
            </a:pPr>
            <a:r>
              <a:rPr sz="1575" b="0">
                <a:solidFill>
                  <a:srgbClr val="AFC7DA"/>
                </a:solidFill>
                <a:latin typeface="Arial"/>
                <a:ea typeface="Arial"/>
                <a:cs typeface="Arial"/>
              </a:rPr>
              <a:t>.NET 10, ASP.NET Core, SQL Server</a:t>
            </a:r>
          </a:p>
        </p:txBody>
      </p:sp>
      <p:sp>
        <p:nvSpPr>
          <p:cNvPr id="4" name="scope">
            <a:extLst xmlns:a="http://schemas.openxmlformats.org/drawingml/2006/main">
              <a:ext uri="{FF2B5EF4-FFF2-40B4-BE49-F238E27FC236}">
                <a16:creationId xmlns:a16="http://schemas.microsoft.com/office/drawing/2014/main" id="{D025AFC7-C32F-4835-B417-EA9D7CB35852}"/>
              </a:ext>
            </a:extLst>
          </p:cNvPr>
          <p:cNvSpPr>
            <a:spLocks xmlns:a="http://schemas.openxmlformats.org/drawingml/2006/main" noGrp="1"/>
          </p:cNvSpPr>
          <p:nvPr/>
        </p:nvSpPr>
        <p:spPr>
          <a:xfrm xmlns:a="http://schemas.openxmlformats.org/drawingml/2006/main">
            <a:off x="819150" y="58674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lnSpc>
                <a:spcPct val="108000"/>
              </a:lnSpc>
              <a:buNone/>
              <a:defRPr sz="1350" b="0">
                <a:solidFill>
                  <a:srgbClr val="FFFFFF"/>
                </a:solidFill>
                <a:latin typeface="Arial"/>
                <a:ea typeface="Arial"/>
                <a:cs typeface="Arial"/>
              </a:defRPr>
            </a:pPr>
            <a:r>
              <a:rPr sz="1350" b="0">
                <a:solidFill>
                  <a:srgbClr val="FFFFFF"/>
                </a:solidFill>
                <a:latin typeface="Arial"/>
                <a:ea typeface="Arial"/>
                <a:cs typeface="Arial"/>
              </a:rPr>
              <a:t>Engineering demonstration only. Not an operational emergency service.</a:t>
            </a:r>
          </a:p>
        </p:txBody>
      </p:sp>
    </p:spTree>
    <p:extLst>
      <p:ext uri="{BB962C8B-B14F-4D97-AF65-F5344CB8AC3E}">
        <p14:creationId xmlns:p14="http://schemas.microsoft.com/office/powerpoint/2010/main" val="863088302"/>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7" name="slide-kicker">
            <a:extLst xmlns:a="http://schemas.openxmlformats.org/drawingml/2006/main">
              <a:ext uri="{FF2B5EF4-FFF2-40B4-BE49-F238E27FC236}">
                <a16:creationId xmlns:a16="http://schemas.microsoft.com/office/drawing/2014/main" id="{E0139EB9-28DA-4777-913A-F0731239B6BA}"/>
              </a:ext>
            </a:extLst>
          </p:cNvPr>
          <p:cNvSpPr>
            <a:spLocks xmlns:a="http://schemas.openxmlformats.org/drawingml/2006/main" noGrp="1"/>
          </p:cNvSpPr>
          <p:nvPr/>
        </p:nvSpPr>
        <p:spPr>
          <a:xfrm xmlns:a="http://schemas.openxmlformats.org/drawingml/2006/main">
            <a:off x="552450" y="3238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7D78"/>
                </a:solidFill>
                <a:latin typeface="Arial"/>
                <a:ea typeface="Arial"/>
                <a:cs typeface="Arial"/>
              </a:defRPr>
            </a:defPPr>
          </a:lstStyle>
          <a:p xmlns:a="http://schemas.openxmlformats.org/drawingml/2006/main">
            <a:pPr algn="l">
              <a:lnSpc>
                <a:spcPct val="108000"/>
              </a:lnSpc>
              <a:buNone/>
              <a:defRPr sz="1050" b="1">
                <a:solidFill>
                  <a:srgbClr val="147D78"/>
                </a:solidFill>
                <a:latin typeface="Arial"/>
                <a:ea typeface="Arial"/>
                <a:cs typeface="Arial"/>
              </a:defRPr>
            </a:pPr>
            <a:r>
              <a:rPr sz="1050" b="1">
                <a:solidFill>
                  <a:srgbClr val="147D78"/>
                </a:solidFill>
                <a:latin typeface="Arial"/>
                <a:ea typeface="Arial"/>
                <a:cs typeface="Arial"/>
              </a:rPr>
              <a:t>AI EMERGENCY RESPONSE</a:t>
            </a:r>
          </a:p>
        </p:txBody>
      </p:sp>
      <p:sp>
        <p:nvSpPr>
          <p:cNvPr id="2" name="slide-title">
            <a:extLst xmlns:a="http://schemas.openxmlformats.org/drawingml/2006/main">
              <a:ext uri="{FF2B5EF4-FFF2-40B4-BE49-F238E27FC236}">
                <a16:creationId xmlns:a16="http://schemas.microsoft.com/office/drawing/2014/main" id="{B2F7AE8D-AD02-4E18-89B8-AD57B62316C3}"/>
              </a:ext>
            </a:extLst>
          </p:cNvPr>
          <p:cNvSpPr>
            <a:spLocks xmlns:a="http://schemas.openxmlformats.org/drawingml/2006/main" noGrp="1"/>
          </p:cNvSpPr>
          <p:nvPr/>
        </p:nvSpPr>
        <p:spPr>
          <a:xfrm xmlns:a="http://schemas.openxmlformats.org/drawingml/2006/main">
            <a:off x="552450" y="6858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02A43"/>
                </a:solidFill>
                <a:latin typeface="Arial"/>
                <a:ea typeface="Arial"/>
                <a:cs typeface="Arial"/>
              </a:defRPr>
            </a:defPPr>
          </a:lstStyle>
          <a:p xmlns:a="http://schemas.openxmlformats.org/drawingml/2006/main">
            <a:pPr algn="l">
              <a:lnSpc>
                <a:spcPct val="108000"/>
              </a:lnSpc>
              <a:buNone/>
              <a:defRPr sz="3150" b="1">
                <a:solidFill>
                  <a:srgbClr val="102A43"/>
                </a:solidFill>
                <a:latin typeface="Arial"/>
                <a:ea typeface="Arial"/>
                <a:cs typeface="Arial"/>
              </a:defRPr>
            </a:pPr>
            <a:r>
              <a:rPr sz="3150" b="1">
                <a:solidFill>
                  <a:srgbClr val="102A43"/>
                </a:solidFill>
                <a:latin typeface="Arial"/>
                <a:ea typeface="Arial"/>
                <a:cs typeface="Arial"/>
              </a:rPr>
              <a:t>Emergency operations workflow</a:t>
            </a:r>
          </a:p>
        </p:txBody>
      </p:sp>
      <p:sp>
        <p:nvSpPr>
          <p:cNvPr id="3" name="slide-number">
            <a:extLst xmlns:a="http://schemas.openxmlformats.org/drawingml/2006/main">
              <a:ext uri="{FF2B5EF4-FFF2-40B4-BE49-F238E27FC236}">
                <a16:creationId xmlns:a16="http://schemas.microsoft.com/office/drawing/2014/main" id="{1DB47392-0156-4552-89C7-5A884ACDFDA5}"/>
              </a:ext>
            </a:extLst>
          </p:cNvPr>
          <p:cNvSpPr>
            <a:spLocks xmlns:a="http://schemas.openxmlformats.org/drawingml/2006/main" noGrp="1"/>
          </p:cNvSpPr>
          <p:nvPr/>
        </p:nvSpPr>
        <p:spPr>
          <a:xfrm xmlns:a="http://schemas.openxmlformats.org/drawingml/2006/main">
            <a:off x="11163300" y="6400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475"/>
                </a:solidFill>
                <a:latin typeface="Arial"/>
                <a:ea typeface="Arial"/>
                <a:cs typeface="Arial"/>
              </a:defRPr>
            </a:defPPr>
          </a:lstStyle>
          <a:p xmlns:a="http://schemas.openxmlformats.org/drawingml/2006/main">
            <a:pPr algn="r">
              <a:lnSpc>
                <a:spcPct val="108000"/>
              </a:lnSpc>
              <a:buNone/>
              <a:defRPr sz="1050" b="0">
                <a:solidFill>
                  <a:srgbClr val="526475"/>
                </a:solidFill>
                <a:latin typeface="Arial"/>
                <a:ea typeface="Arial"/>
                <a:cs typeface="Arial"/>
              </a:defRPr>
            </a:pPr>
            <a:r>
              <a:rPr sz="1050" b="0">
                <a:solidFill>
                  <a:srgbClr val="526475"/>
                </a:solidFill>
                <a:latin typeface="Arial"/>
                <a:ea typeface="Arial"/>
                <a:cs typeface="Arial"/>
              </a:rPr>
              <a:t>02</a:t>
            </a:r>
          </a:p>
        </p:txBody>
      </p:sp>
      <p:sp>
        <p:nvSpPr>
          <p:cNvPr id="4" name="step-01">
            <a:extLst xmlns:a="http://schemas.openxmlformats.org/drawingml/2006/main">
              <a:ext uri="{FF2B5EF4-FFF2-40B4-BE49-F238E27FC236}">
                <a16:creationId xmlns:a16="http://schemas.microsoft.com/office/drawing/2014/main" id="{281A78F3-7539-40C1-BDB3-C9BA7BFCA19C}"/>
              </a:ext>
            </a:extLst>
          </p:cNvPr>
          <p:cNvSpPr>
            <a:spLocks xmlns:a="http://schemas.openxmlformats.org/drawingml/2006/main" noGrp="1"/>
          </p:cNvSpPr>
          <p:nvPr/>
        </p:nvSpPr>
        <p:spPr>
          <a:xfrm xmlns:a="http://schemas.openxmlformats.org/drawingml/2006/main">
            <a:off x="723900" y="1581150"/>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47D78"/>
                </a:solidFill>
                <a:latin typeface="Arial"/>
                <a:ea typeface="Arial"/>
                <a:cs typeface="Arial"/>
              </a:defRPr>
            </a:defPPr>
          </a:lstStyle>
          <a:p xmlns:a="http://schemas.openxmlformats.org/drawingml/2006/main">
            <a:pPr algn="l">
              <a:lnSpc>
                <a:spcPct val="108000"/>
              </a:lnSpc>
              <a:buNone/>
              <a:defRPr sz="2325" b="1">
                <a:solidFill>
                  <a:srgbClr val="147D78"/>
                </a:solidFill>
                <a:latin typeface="Arial"/>
                <a:ea typeface="Arial"/>
                <a:cs typeface="Arial"/>
              </a:defRPr>
            </a:pPr>
            <a:r>
              <a:rPr sz="2325" b="1">
                <a:solidFill>
                  <a:srgbClr val="147D78"/>
                </a:solidFill>
                <a:latin typeface="Arial"/>
                <a:ea typeface="Arial"/>
                <a:cs typeface="Arial"/>
              </a:rPr>
              <a:t>01</a:t>
            </a:r>
          </a:p>
        </p:txBody>
      </p:sp>
      <p:sp>
        <p:nvSpPr>
          <p:cNvPr id="5" name="heading-01">
            <a:extLst xmlns:a="http://schemas.openxmlformats.org/drawingml/2006/main">
              <a:ext uri="{FF2B5EF4-FFF2-40B4-BE49-F238E27FC236}">
                <a16:creationId xmlns:a16="http://schemas.microsoft.com/office/drawing/2014/main" id="{3A642497-3776-4B6E-BB2D-93A70716D11E}"/>
              </a:ext>
            </a:extLst>
          </p:cNvPr>
          <p:cNvSpPr>
            <a:spLocks xmlns:a="http://schemas.openxmlformats.org/drawingml/2006/main" noGrp="1"/>
          </p:cNvSpPr>
          <p:nvPr/>
        </p:nvSpPr>
        <p:spPr>
          <a:xfrm xmlns:a="http://schemas.openxmlformats.org/drawingml/2006/main">
            <a:off x="1638300" y="1581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02A43"/>
                </a:solidFill>
                <a:latin typeface="Arial"/>
                <a:ea typeface="Arial"/>
                <a:cs typeface="Arial"/>
              </a:defRPr>
            </a:defPPr>
          </a:lstStyle>
          <a:p xmlns:a="http://schemas.openxmlformats.org/drawingml/2006/main">
            <a:pPr algn="l">
              <a:lnSpc>
                <a:spcPct val="108000"/>
              </a:lnSpc>
              <a:buNone/>
              <a:defRPr sz="2025" b="1">
                <a:solidFill>
                  <a:srgbClr val="102A43"/>
                </a:solidFill>
                <a:latin typeface="Arial"/>
                <a:ea typeface="Arial"/>
                <a:cs typeface="Arial"/>
              </a:defRPr>
            </a:pPr>
            <a:r>
              <a:rPr sz="2025" b="1">
                <a:solidFill>
                  <a:srgbClr val="102A43"/>
                </a:solidFill>
                <a:latin typeface="Arial"/>
                <a:ea typeface="Arial"/>
                <a:cs typeface="Arial"/>
              </a:rPr>
              <a:t>Report</a:t>
            </a:r>
          </a:p>
        </p:txBody>
      </p:sp>
      <p:sp>
        <p:nvSpPr>
          <p:cNvPr id="6" name="body-01">
            <a:extLst xmlns:a="http://schemas.openxmlformats.org/drawingml/2006/main">
              <a:ext uri="{FF2B5EF4-FFF2-40B4-BE49-F238E27FC236}">
                <a16:creationId xmlns:a16="http://schemas.microsoft.com/office/drawing/2014/main" id="{C0843B90-2C00-4629-9373-2B18A588AD38}"/>
              </a:ext>
            </a:extLst>
          </p:cNvPr>
          <p:cNvSpPr>
            <a:spLocks xmlns:a="http://schemas.openxmlformats.org/drawingml/2006/main" noGrp="1"/>
          </p:cNvSpPr>
          <p:nvPr/>
        </p:nvSpPr>
        <p:spPr>
          <a:xfrm xmlns:a="http://schemas.openxmlformats.org/drawingml/2006/main">
            <a:off x="3733800" y="15811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B3A"/>
                </a:solidFill>
                <a:latin typeface="Arial"/>
                <a:ea typeface="Arial"/>
                <a:cs typeface="Arial"/>
              </a:defRPr>
            </a:defPPr>
          </a:lstStyle>
          <a:p xmlns:a="http://schemas.openxmlformats.org/drawingml/2006/main">
            <a:pPr algn="l">
              <a:lnSpc>
                <a:spcPct val="108000"/>
              </a:lnSpc>
              <a:buNone/>
              <a:defRPr sz="1725" b="0">
                <a:solidFill>
                  <a:srgbClr val="172B3A"/>
                </a:solidFill>
                <a:latin typeface="Arial"/>
                <a:ea typeface="Arial"/>
                <a:cs typeface="Arial"/>
              </a:defRPr>
            </a:pPr>
            <a:r>
              <a:rPr sz="1725" b="0">
                <a:solidFill>
                  <a:srgbClr val="172B3A"/>
                </a:solidFill>
                <a:latin typeface="Arial"/>
                <a:ea typeface="Arial"/>
                <a:cs typeface="Arial"/>
              </a:rPr>
              <a:t>A resident submits an incident report with location and reported facts.</a:t>
            </a:r>
          </a:p>
        </p:txBody>
      </p:sp>
      <p:sp>
        <p:nvSpPr>
          <p:cNvPr id="7" name="step-02">
            <a:extLst xmlns:a="http://schemas.openxmlformats.org/drawingml/2006/main">
              <a:ext uri="{FF2B5EF4-FFF2-40B4-BE49-F238E27FC236}">
                <a16:creationId xmlns:a16="http://schemas.microsoft.com/office/drawing/2014/main" id="{603DE877-D8BE-4867-8C3E-1A5BEA2D5E5A}"/>
              </a:ext>
            </a:extLst>
          </p:cNvPr>
          <p:cNvSpPr>
            <a:spLocks xmlns:a="http://schemas.openxmlformats.org/drawingml/2006/main" noGrp="1"/>
          </p:cNvSpPr>
          <p:nvPr/>
        </p:nvSpPr>
        <p:spPr>
          <a:xfrm xmlns:a="http://schemas.openxmlformats.org/drawingml/2006/main">
            <a:off x="723900" y="2667000"/>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47D78"/>
                </a:solidFill>
                <a:latin typeface="Arial"/>
                <a:ea typeface="Arial"/>
                <a:cs typeface="Arial"/>
              </a:defRPr>
            </a:defPPr>
          </a:lstStyle>
          <a:p xmlns:a="http://schemas.openxmlformats.org/drawingml/2006/main">
            <a:pPr algn="l">
              <a:lnSpc>
                <a:spcPct val="108000"/>
              </a:lnSpc>
              <a:buNone/>
              <a:defRPr sz="2325" b="1">
                <a:solidFill>
                  <a:srgbClr val="147D78"/>
                </a:solidFill>
                <a:latin typeface="Arial"/>
                <a:ea typeface="Arial"/>
                <a:cs typeface="Arial"/>
              </a:defRPr>
            </a:pPr>
            <a:r>
              <a:rPr sz="2325" b="1">
                <a:solidFill>
                  <a:srgbClr val="147D78"/>
                </a:solidFill>
                <a:latin typeface="Arial"/>
                <a:ea typeface="Arial"/>
                <a:cs typeface="Arial"/>
              </a:rPr>
              <a:t>02</a:t>
            </a:r>
          </a:p>
        </p:txBody>
      </p:sp>
      <p:sp>
        <p:nvSpPr>
          <p:cNvPr id="8" name="heading-02">
            <a:extLst xmlns:a="http://schemas.openxmlformats.org/drawingml/2006/main">
              <a:ext uri="{FF2B5EF4-FFF2-40B4-BE49-F238E27FC236}">
                <a16:creationId xmlns:a16="http://schemas.microsoft.com/office/drawing/2014/main" id="{FB434DE0-9E78-4870-A754-61F6F31CBED3}"/>
              </a:ext>
            </a:extLst>
          </p:cNvPr>
          <p:cNvSpPr>
            <a:spLocks xmlns:a="http://schemas.openxmlformats.org/drawingml/2006/main" noGrp="1"/>
          </p:cNvSpPr>
          <p:nvPr/>
        </p:nvSpPr>
        <p:spPr>
          <a:xfrm xmlns:a="http://schemas.openxmlformats.org/drawingml/2006/main">
            <a:off x="1638300" y="26670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02A43"/>
                </a:solidFill>
                <a:latin typeface="Arial"/>
                <a:ea typeface="Arial"/>
                <a:cs typeface="Arial"/>
              </a:defRPr>
            </a:defPPr>
          </a:lstStyle>
          <a:p xmlns:a="http://schemas.openxmlformats.org/drawingml/2006/main">
            <a:pPr algn="l">
              <a:lnSpc>
                <a:spcPct val="108000"/>
              </a:lnSpc>
              <a:buNone/>
              <a:defRPr sz="2025" b="1">
                <a:solidFill>
                  <a:srgbClr val="102A43"/>
                </a:solidFill>
                <a:latin typeface="Arial"/>
                <a:ea typeface="Arial"/>
                <a:cs typeface="Arial"/>
              </a:defRPr>
            </a:pPr>
            <a:r>
              <a:rPr sz="2025" b="1">
                <a:solidFill>
                  <a:srgbClr val="102A43"/>
                </a:solidFill>
                <a:latin typeface="Arial"/>
                <a:ea typeface="Arial"/>
                <a:cs typeface="Arial"/>
              </a:rPr>
              <a:t>Review</a:t>
            </a:r>
          </a:p>
        </p:txBody>
      </p:sp>
      <p:sp>
        <p:nvSpPr>
          <p:cNvPr id="9" name="body-02">
            <a:extLst xmlns:a="http://schemas.openxmlformats.org/drawingml/2006/main">
              <a:ext uri="{FF2B5EF4-FFF2-40B4-BE49-F238E27FC236}">
                <a16:creationId xmlns:a16="http://schemas.microsoft.com/office/drawing/2014/main" id="{78E13D9D-CDAE-43B0-9382-8FA0BBFED406}"/>
              </a:ext>
            </a:extLst>
          </p:cNvPr>
          <p:cNvSpPr>
            <a:spLocks xmlns:a="http://schemas.openxmlformats.org/drawingml/2006/main" noGrp="1"/>
          </p:cNvSpPr>
          <p:nvPr/>
        </p:nvSpPr>
        <p:spPr>
          <a:xfrm xmlns:a="http://schemas.openxmlformats.org/drawingml/2006/main">
            <a:off x="3733800" y="26670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B3A"/>
                </a:solidFill>
                <a:latin typeface="Arial"/>
                <a:ea typeface="Arial"/>
                <a:cs typeface="Arial"/>
              </a:defRPr>
            </a:defPPr>
          </a:lstStyle>
          <a:p xmlns:a="http://schemas.openxmlformats.org/drawingml/2006/main">
            <a:pPr algn="l">
              <a:lnSpc>
                <a:spcPct val="108000"/>
              </a:lnSpc>
              <a:buNone/>
              <a:defRPr sz="1725" b="0">
                <a:solidFill>
                  <a:srgbClr val="172B3A"/>
                </a:solidFill>
                <a:latin typeface="Arial"/>
                <a:ea typeface="Arial"/>
                <a:cs typeface="Arial"/>
              </a:defRPr>
            </a:pPr>
            <a:r>
              <a:rPr sz="1725" b="0">
                <a:solidFill>
                  <a:srgbClr val="172B3A"/>
                </a:solidFill>
                <a:latin typeface="Arial"/>
                <a:ea typeface="Arial"/>
                <a:cs typeface="Arial"/>
              </a:rPr>
              <a:t>Authorized staff inspect status, impact, related reports, and unknowns.</a:t>
            </a:r>
          </a:p>
        </p:txBody>
      </p:sp>
      <p:sp>
        <p:nvSpPr>
          <p:cNvPr id="10" name="step-03">
            <a:extLst xmlns:a="http://schemas.openxmlformats.org/drawingml/2006/main">
              <a:ext uri="{FF2B5EF4-FFF2-40B4-BE49-F238E27FC236}">
                <a16:creationId xmlns:a16="http://schemas.microsoft.com/office/drawing/2014/main" id="{E5A0B281-687C-48F0-8D4E-6FE6520813C7}"/>
              </a:ext>
            </a:extLst>
          </p:cNvPr>
          <p:cNvSpPr>
            <a:spLocks xmlns:a="http://schemas.openxmlformats.org/drawingml/2006/main" noGrp="1"/>
          </p:cNvSpPr>
          <p:nvPr/>
        </p:nvSpPr>
        <p:spPr>
          <a:xfrm xmlns:a="http://schemas.openxmlformats.org/drawingml/2006/main">
            <a:off x="723900" y="3752850"/>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47D78"/>
                </a:solidFill>
                <a:latin typeface="Arial"/>
                <a:ea typeface="Arial"/>
                <a:cs typeface="Arial"/>
              </a:defRPr>
            </a:defPPr>
          </a:lstStyle>
          <a:p xmlns:a="http://schemas.openxmlformats.org/drawingml/2006/main">
            <a:pPr algn="l">
              <a:lnSpc>
                <a:spcPct val="108000"/>
              </a:lnSpc>
              <a:buNone/>
              <a:defRPr sz="2325" b="1">
                <a:solidFill>
                  <a:srgbClr val="147D78"/>
                </a:solidFill>
                <a:latin typeface="Arial"/>
                <a:ea typeface="Arial"/>
                <a:cs typeface="Arial"/>
              </a:defRPr>
            </a:pPr>
            <a:r>
              <a:rPr sz="2325" b="1">
                <a:solidFill>
                  <a:srgbClr val="147D78"/>
                </a:solidFill>
                <a:latin typeface="Arial"/>
                <a:ea typeface="Arial"/>
                <a:cs typeface="Arial"/>
              </a:rPr>
              <a:t>03</a:t>
            </a:r>
          </a:p>
        </p:txBody>
      </p:sp>
      <p:sp>
        <p:nvSpPr>
          <p:cNvPr id="11" name="heading-03">
            <a:extLst xmlns:a="http://schemas.openxmlformats.org/drawingml/2006/main">
              <a:ext uri="{FF2B5EF4-FFF2-40B4-BE49-F238E27FC236}">
                <a16:creationId xmlns:a16="http://schemas.microsoft.com/office/drawing/2014/main" id="{FF355BC8-AA9D-457B-8C5B-C643154B7BC8}"/>
              </a:ext>
            </a:extLst>
          </p:cNvPr>
          <p:cNvSpPr>
            <a:spLocks xmlns:a="http://schemas.openxmlformats.org/drawingml/2006/main" noGrp="1"/>
          </p:cNvSpPr>
          <p:nvPr/>
        </p:nvSpPr>
        <p:spPr>
          <a:xfrm xmlns:a="http://schemas.openxmlformats.org/drawingml/2006/main">
            <a:off x="1638300" y="37528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02A43"/>
                </a:solidFill>
                <a:latin typeface="Arial"/>
                <a:ea typeface="Arial"/>
                <a:cs typeface="Arial"/>
              </a:defRPr>
            </a:defPPr>
          </a:lstStyle>
          <a:p xmlns:a="http://schemas.openxmlformats.org/drawingml/2006/main">
            <a:pPr algn="l">
              <a:lnSpc>
                <a:spcPct val="108000"/>
              </a:lnSpc>
              <a:buNone/>
              <a:defRPr sz="2025" b="1">
                <a:solidFill>
                  <a:srgbClr val="102A43"/>
                </a:solidFill>
                <a:latin typeface="Arial"/>
                <a:ea typeface="Arial"/>
                <a:cs typeface="Arial"/>
              </a:defRPr>
            </a:pPr>
            <a:r>
              <a:rPr sz="2025" b="1">
                <a:solidFill>
                  <a:srgbClr val="102A43"/>
                </a:solidFill>
                <a:latin typeface="Arial"/>
                <a:ea typeface="Arial"/>
                <a:cs typeface="Arial"/>
              </a:rPr>
              <a:t>Coordinate</a:t>
            </a:r>
          </a:p>
        </p:txBody>
      </p:sp>
      <p:sp>
        <p:nvSpPr>
          <p:cNvPr id="12" name="body-03">
            <a:extLst xmlns:a="http://schemas.openxmlformats.org/drawingml/2006/main">
              <a:ext uri="{FF2B5EF4-FFF2-40B4-BE49-F238E27FC236}">
                <a16:creationId xmlns:a16="http://schemas.microsoft.com/office/drawing/2014/main" id="{23EE5E55-2D5A-4C31-A798-AA68A7ECB97A}"/>
              </a:ext>
            </a:extLst>
          </p:cNvPr>
          <p:cNvSpPr>
            <a:spLocks xmlns:a="http://schemas.openxmlformats.org/drawingml/2006/main" noGrp="1"/>
          </p:cNvSpPr>
          <p:nvPr/>
        </p:nvSpPr>
        <p:spPr>
          <a:xfrm xmlns:a="http://schemas.openxmlformats.org/drawingml/2006/main">
            <a:off x="3733800" y="37528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B3A"/>
                </a:solidFill>
                <a:latin typeface="Arial"/>
                <a:ea typeface="Arial"/>
                <a:cs typeface="Arial"/>
              </a:defRPr>
            </a:defPPr>
          </a:lstStyle>
          <a:p xmlns:a="http://schemas.openxmlformats.org/drawingml/2006/main">
            <a:pPr algn="l">
              <a:lnSpc>
                <a:spcPct val="108000"/>
              </a:lnSpc>
              <a:buNone/>
              <a:defRPr sz="1725" b="0">
                <a:solidFill>
                  <a:srgbClr val="172B3A"/>
                </a:solidFill>
                <a:latin typeface="Arial"/>
                <a:ea typeface="Arial"/>
                <a:cs typeface="Arial"/>
              </a:defRPr>
            </a:pPr>
            <a:r>
              <a:rPr sz="1725" b="0">
                <a:solidFill>
                  <a:srgbClr val="172B3A"/>
                </a:solidFill>
                <a:latin typeface="Arial"/>
                <a:ea typeface="Arial"/>
                <a:cs typeface="Arial"/>
              </a:rPr>
              <a:t>Dashboard, map, and resource views provide operational context.</a:t>
            </a:r>
          </a:p>
        </p:txBody>
      </p:sp>
      <p:sp>
        <p:nvSpPr>
          <p:cNvPr id="13" name="step-04">
            <a:extLst xmlns:a="http://schemas.openxmlformats.org/drawingml/2006/main">
              <a:ext uri="{FF2B5EF4-FFF2-40B4-BE49-F238E27FC236}">
                <a16:creationId xmlns:a16="http://schemas.microsoft.com/office/drawing/2014/main" id="{DB1A09AA-496A-4311-84CC-A9180E0342B9}"/>
              </a:ext>
            </a:extLst>
          </p:cNvPr>
          <p:cNvSpPr>
            <a:spLocks xmlns:a="http://schemas.openxmlformats.org/drawingml/2006/main" noGrp="1"/>
          </p:cNvSpPr>
          <p:nvPr/>
        </p:nvSpPr>
        <p:spPr>
          <a:xfrm xmlns:a="http://schemas.openxmlformats.org/drawingml/2006/main">
            <a:off x="723900" y="4838700"/>
            <a:ext cx="647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47D78"/>
                </a:solidFill>
                <a:latin typeface="Arial"/>
                <a:ea typeface="Arial"/>
                <a:cs typeface="Arial"/>
              </a:defRPr>
            </a:defPPr>
          </a:lstStyle>
          <a:p xmlns:a="http://schemas.openxmlformats.org/drawingml/2006/main">
            <a:pPr algn="l">
              <a:lnSpc>
                <a:spcPct val="108000"/>
              </a:lnSpc>
              <a:buNone/>
              <a:defRPr sz="2325" b="1">
                <a:solidFill>
                  <a:srgbClr val="147D78"/>
                </a:solidFill>
                <a:latin typeface="Arial"/>
                <a:ea typeface="Arial"/>
                <a:cs typeface="Arial"/>
              </a:defRPr>
            </a:pPr>
            <a:r>
              <a:rPr sz="2325" b="1">
                <a:solidFill>
                  <a:srgbClr val="147D78"/>
                </a:solidFill>
                <a:latin typeface="Arial"/>
                <a:ea typeface="Arial"/>
                <a:cs typeface="Arial"/>
              </a:rPr>
              <a:t>04</a:t>
            </a:r>
          </a:p>
        </p:txBody>
      </p:sp>
      <p:sp>
        <p:nvSpPr>
          <p:cNvPr id="14" name="heading-04">
            <a:extLst xmlns:a="http://schemas.openxmlformats.org/drawingml/2006/main">
              <a:ext uri="{FF2B5EF4-FFF2-40B4-BE49-F238E27FC236}">
                <a16:creationId xmlns:a16="http://schemas.microsoft.com/office/drawing/2014/main" id="{9A3C6C20-B203-41A5-B5AD-332AE8C5568E}"/>
              </a:ext>
            </a:extLst>
          </p:cNvPr>
          <p:cNvSpPr>
            <a:spLocks xmlns:a="http://schemas.openxmlformats.org/drawingml/2006/main" noGrp="1"/>
          </p:cNvSpPr>
          <p:nvPr/>
        </p:nvSpPr>
        <p:spPr>
          <a:xfrm xmlns:a="http://schemas.openxmlformats.org/drawingml/2006/main">
            <a:off x="1638300" y="48387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102A43"/>
                </a:solidFill>
                <a:latin typeface="Arial"/>
                <a:ea typeface="Arial"/>
                <a:cs typeface="Arial"/>
              </a:defRPr>
            </a:defPPr>
          </a:lstStyle>
          <a:p xmlns:a="http://schemas.openxmlformats.org/drawingml/2006/main">
            <a:pPr algn="l">
              <a:lnSpc>
                <a:spcPct val="108000"/>
              </a:lnSpc>
              <a:buNone/>
              <a:defRPr sz="2025" b="1">
                <a:solidFill>
                  <a:srgbClr val="102A43"/>
                </a:solidFill>
                <a:latin typeface="Arial"/>
                <a:ea typeface="Arial"/>
                <a:cs typeface="Arial"/>
              </a:defRPr>
            </a:pPr>
            <a:r>
              <a:rPr sz="2025" b="1">
                <a:solidFill>
                  <a:srgbClr val="102A43"/>
                </a:solidFill>
                <a:latin typeface="Arial"/>
                <a:ea typeface="Arial"/>
                <a:cs typeface="Arial"/>
              </a:rPr>
              <a:t>Act</a:t>
            </a:r>
          </a:p>
        </p:txBody>
      </p:sp>
      <p:sp>
        <p:nvSpPr>
          <p:cNvPr id="15" name="body-04">
            <a:extLst xmlns:a="http://schemas.openxmlformats.org/drawingml/2006/main">
              <a:ext uri="{FF2B5EF4-FFF2-40B4-BE49-F238E27FC236}">
                <a16:creationId xmlns:a16="http://schemas.microsoft.com/office/drawing/2014/main" id="{7F8BFDB7-A6DB-4C2C-B44D-35BF89E43E30}"/>
              </a:ext>
            </a:extLst>
          </p:cNvPr>
          <p:cNvSpPr>
            <a:spLocks xmlns:a="http://schemas.openxmlformats.org/drawingml/2006/main" noGrp="1"/>
          </p:cNvSpPr>
          <p:nvPr/>
        </p:nvSpPr>
        <p:spPr>
          <a:xfrm xmlns:a="http://schemas.openxmlformats.org/drawingml/2006/main">
            <a:off x="3733800" y="48387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72B3A"/>
                </a:solidFill>
                <a:latin typeface="Arial"/>
                <a:ea typeface="Arial"/>
                <a:cs typeface="Arial"/>
              </a:defRPr>
            </a:defPPr>
          </a:lstStyle>
          <a:p xmlns:a="http://schemas.openxmlformats.org/drawingml/2006/main">
            <a:pPr algn="l">
              <a:lnSpc>
                <a:spcPct val="108000"/>
              </a:lnSpc>
              <a:buNone/>
              <a:defRPr sz="1725" b="0">
                <a:solidFill>
                  <a:srgbClr val="172B3A"/>
                </a:solidFill>
                <a:latin typeface="Arial"/>
                <a:ea typeface="Arial"/>
                <a:cs typeface="Arial"/>
              </a:defRPr>
            </a:pPr>
            <a:r>
              <a:rPr sz="1725" b="0">
                <a:solidFill>
                  <a:srgbClr val="172B3A"/>
                </a:solidFill>
                <a:latin typeface="Arial"/>
                <a:ea typeface="Arial"/>
                <a:cs typeface="Arial"/>
              </a:rPr>
              <a:t>Human permissions govern commands. AI remains advisory.</a:t>
            </a:r>
          </a:p>
        </p:txBody>
      </p:sp>
      <p:sp>
        <p:nvSpPr>
          <p:cNvPr id="16" name="roles">
            <a:extLst xmlns:a="http://schemas.openxmlformats.org/drawingml/2006/main">
              <a:ext uri="{FF2B5EF4-FFF2-40B4-BE49-F238E27FC236}">
                <a16:creationId xmlns:a16="http://schemas.microsoft.com/office/drawing/2014/main" id="{4173DC30-0685-4A6E-95F3-9BA7F2F57554}"/>
              </a:ext>
            </a:extLst>
          </p:cNvPr>
          <p:cNvSpPr>
            <a:spLocks xmlns:a="http://schemas.openxmlformats.org/drawingml/2006/main" noGrp="1"/>
          </p:cNvSpPr>
          <p:nvPr/>
        </p:nvSpPr>
        <p:spPr>
          <a:xfrm xmlns:a="http://schemas.openxmlformats.org/drawingml/2006/main">
            <a:off x="742950" y="59436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6475"/>
                </a:solidFill>
                <a:latin typeface="Arial"/>
                <a:ea typeface="Arial"/>
                <a:cs typeface="Arial"/>
              </a:defRPr>
            </a:defPPr>
          </a:lstStyle>
          <a:p xmlns:a="http://schemas.openxmlformats.org/drawingml/2006/main">
            <a:pPr algn="l">
              <a:lnSpc>
                <a:spcPct val="108000"/>
              </a:lnSpc>
              <a:buNone/>
              <a:defRPr sz="1350" b="0">
                <a:solidFill>
                  <a:srgbClr val="526475"/>
                </a:solidFill>
                <a:latin typeface="Arial"/>
                <a:ea typeface="Arial"/>
                <a:cs typeface="Arial"/>
              </a:defRPr>
            </a:pPr>
            <a:r>
              <a:rPr sz="1350" b="0">
                <a:solidFill>
                  <a:srgbClr val="526475"/>
                </a:solidFill>
                <a:latin typeface="Arial"/>
                <a:ea typeface="Arial"/>
                <a:cs typeface="Arial"/>
              </a:rPr>
              <a:t>Citizens report. Responders and Operators review. EmergencyAdmin and SystemAdmin have higher-level controls.</a:t>
            </a:r>
          </a:p>
        </p:txBody>
      </p:sp>
    </p:spTree>
    <p:extLst>
      <p:ext uri="{BB962C8B-B14F-4D97-AF65-F5344CB8AC3E}">
        <p14:creationId xmlns:p14="http://schemas.microsoft.com/office/powerpoint/2010/main" val="277942830"/>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7" name="slide-kicker">
            <a:extLst xmlns:a="http://schemas.openxmlformats.org/drawingml/2006/main">
              <a:ext uri="{FF2B5EF4-FFF2-40B4-BE49-F238E27FC236}">
                <a16:creationId xmlns:a16="http://schemas.microsoft.com/office/drawing/2014/main" id="{5A271F11-1D98-40F3-B388-C98483B0BBF6}"/>
              </a:ext>
            </a:extLst>
          </p:cNvPr>
          <p:cNvSpPr>
            <a:spLocks xmlns:a="http://schemas.openxmlformats.org/drawingml/2006/main" noGrp="1"/>
          </p:cNvSpPr>
          <p:nvPr/>
        </p:nvSpPr>
        <p:spPr>
          <a:xfrm xmlns:a="http://schemas.openxmlformats.org/drawingml/2006/main">
            <a:off x="552450" y="3238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7D78"/>
                </a:solidFill>
                <a:latin typeface="Arial"/>
                <a:ea typeface="Arial"/>
                <a:cs typeface="Arial"/>
              </a:defRPr>
            </a:defPPr>
          </a:lstStyle>
          <a:p xmlns:a="http://schemas.openxmlformats.org/drawingml/2006/main">
            <a:pPr algn="l">
              <a:lnSpc>
                <a:spcPct val="108000"/>
              </a:lnSpc>
              <a:buNone/>
              <a:defRPr sz="1050" b="1">
                <a:solidFill>
                  <a:srgbClr val="147D78"/>
                </a:solidFill>
                <a:latin typeface="Arial"/>
                <a:ea typeface="Arial"/>
                <a:cs typeface="Arial"/>
              </a:defRPr>
            </a:pPr>
            <a:r>
              <a:rPr sz="1050" b="1">
                <a:solidFill>
                  <a:srgbClr val="147D78"/>
                </a:solidFill>
                <a:latin typeface="Arial"/>
                <a:ea typeface="Arial"/>
                <a:cs typeface="Arial"/>
              </a:rPr>
              <a:t>AI EMERGENCY RESPONSE</a:t>
            </a:r>
          </a:p>
        </p:txBody>
      </p:sp>
      <p:sp>
        <p:nvSpPr>
          <p:cNvPr id="2" name="slide-title">
            <a:extLst xmlns:a="http://schemas.openxmlformats.org/drawingml/2006/main">
              <a:ext uri="{FF2B5EF4-FFF2-40B4-BE49-F238E27FC236}">
                <a16:creationId xmlns:a16="http://schemas.microsoft.com/office/drawing/2014/main" id="{C27D4ADF-3871-48BD-B828-3452A4980108}"/>
              </a:ext>
            </a:extLst>
          </p:cNvPr>
          <p:cNvSpPr>
            <a:spLocks xmlns:a="http://schemas.openxmlformats.org/drawingml/2006/main" noGrp="1"/>
          </p:cNvSpPr>
          <p:nvPr/>
        </p:nvSpPr>
        <p:spPr>
          <a:xfrm xmlns:a="http://schemas.openxmlformats.org/drawingml/2006/main">
            <a:off x="552450" y="6858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02A43"/>
                </a:solidFill>
                <a:latin typeface="Arial"/>
                <a:ea typeface="Arial"/>
                <a:cs typeface="Arial"/>
              </a:defRPr>
            </a:defPPr>
          </a:lstStyle>
          <a:p xmlns:a="http://schemas.openxmlformats.org/drawingml/2006/main">
            <a:pPr algn="l">
              <a:lnSpc>
                <a:spcPct val="108000"/>
              </a:lnSpc>
              <a:buNone/>
              <a:defRPr sz="3150" b="1">
                <a:solidFill>
                  <a:srgbClr val="102A43"/>
                </a:solidFill>
                <a:latin typeface="Arial"/>
                <a:ea typeface="Arial"/>
                <a:cs typeface="Arial"/>
              </a:defRPr>
            </a:pPr>
            <a:r>
              <a:rPr sz="3150" b="1">
                <a:solidFill>
                  <a:srgbClr val="102A43"/>
                </a:solidFill>
                <a:latin typeface="Arial"/>
                <a:ea typeface="Arial"/>
                <a:cs typeface="Arial"/>
              </a:rPr>
              <a:t>Application capabilities and available evidence</a:t>
            </a:r>
          </a:p>
        </p:txBody>
      </p:sp>
      <p:sp>
        <p:nvSpPr>
          <p:cNvPr id="3" name="slide-number">
            <a:extLst xmlns:a="http://schemas.openxmlformats.org/drawingml/2006/main">
              <a:ext uri="{FF2B5EF4-FFF2-40B4-BE49-F238E27FC236}">
                <a16:creationId xmlns:a16="http://schemas.microsoft.com/office/drawing/2014/main" id="{6DD76F78-81DB-41B5-8855-C8D24BB735BA}"/>
              </a:ext>
            </a:extLst>
          </p:cNvPr>
          <p:cNvSpPr>
            <a:spLocks xmlns:a="http://schemas.openxmlformats.org/drawingml/2006/main" noGrp="1"/>
          </p:cNvSpPr>
          <p:nvPr/>
        </p:nvSpPr>
        <p:spPr>
          <a:xfrm xmlns:a="http://schemas.openxmlformats.org/drawingml/2006/main">
            <a:off x="11163300" y="6400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475"/>
                </a:solidFill>
                <a:latin typeface="Arial"/>
                <a:ea typeface="Arial"/>
                <a:cs typeface="Arial"/>
              </a:defRPr>
            </a:defPPr>
          </a:lstStyle>
          <a:p xmlns:a="http://schemas.openxmlformats.org/drawingml/2006/main">
            <a:pPr algn="r">
              <a:lnSpc>
                <a:spcPct val="108000"/>
              </a:lnSpc>
              <a:buNone/>
              <a:defRPr sz="1050" b="0">
                <a:solidFill>
                  <a:srgbClr val="526475"/>
                </a:solidFill>
                <a:latin typeface="Arial"/>
                <a:ea typeface="Arial"/>
                <a:cs typeface="Arial"/>
              </a:defRPr>
            </a:pPr>
            <a:r>
              <a:rPr sz="1050" b="0">
                <a:solidFill>
                  <a:srgbClr val="526475"/>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BAECFC34-8921-4414-8A45-0E460F25C256}"/>
              </a:ext>
            </a:extLst>
          </p:cNvPr>
          <p:cNvPicPr>
            <a:picLocks xmlns:a="http://schemas.openxmlformats.org/drawingml/2006/main" noChangeAspect="1"/>
          </p:cNvPicPr>
          <p:nvPr/>
        </p:nvPicPr>
        <p:blipFill>
          <a:blip xmlns:r="http://schemas.openxmlformats.org/officeDocument/2006/relationships" xmlns:a="http://schemas.openxmlformats.org/drawingml/2006/main" r:embed="R48dc944fd0ab412a"/>
          <a:stretch xmlns:a="http://schemas.openxmlformats.org/drawingml/2006/main"/>
        </p:blipFill>
        <p:spPr>
          <a:xfrm xmlns:a="http://schemas.openxmlformats.org/drawingml/2006/main">
            <a:off x="457200" y="1608995"/>
            <a:ext cx="7067550" cy="3659060"/>
          </a:xfrm>
          <a:prstGeom xmlns:a="http://schemas.openxmlformats.org/drawingml/2006/main" prst="rect">
            <a:avLst/>
          </a:prstGeom>
        </p:spPr>
      </p:pic>
      <p:sp>
        <p:nvSpPr>
          <p:cNvPr id="5" name="capabilities">
            <a:extLst xmlns:a="http://schemas.openxmlformats.org/drawingml/2006/main">
              <a:ext uri="{FF2B5EF4-FFF2-40B4-BE49-F238E27FC236}">
                <a16:creationId xmlns:a16="http://schemas.microsoft.com/office/drawing/2014/main" id="{34EC5832-5133-40D6-82C1-D8B8C6808008}"/>
              </a:ext>
            </a:extLst>
          </p:cNvPr>
          <p:cNvSpPr>
            <a:spLocks xmlns:a="http://schemas.openxmlformats.org/drawingml/2006/main" noGrp="1"/>
          </p:cNvSpPr>
          <p:nvPr/>
        </p:nvSpPr>
        <p:spPr>
          <a:xfrm xmlns:a="http://schemas.openxmlformats.org/drawingml/2006/main">
            <a:off x="7943850" y="1600200"/>
            <a:ext cx="36766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B3A"/>
                </a:solidFill>
                <a:latin typeface="Arial"/>
                <a:ea typeface="Arial"/>
                <a:cs typeface="Arial"/>
              </a:defRPr>
            </a:defPPr>
          </a:lstStyle>
          <a:p xmlns:a="http://schemas.openxmlformats.org/drawingml/2006/main">
            <a:pPr algn="l">
              <a:lnSpc>
                <a:spcPct val="125000"/>
              </a:lnSpc>
              <a:buNone/>
              <a:defRPr sz="1725" b="0">
                <a:solidFill>
                  <a:srgbClr val="172B3A"/>
                </a:solidFill>
                <a:latin typeface="Arial"/>
                <a:ea typeface="Arial"/>
                <a:cs typeface="Arial"/>
              </a:defRPr>
            </a:pPr>
            <a:r>
              <a:rPr sz="1725" b="0">
                <a:solidFill>
                  <a:srgbClr val="172B3A"/>
                </a:solidFill>
                <a:latin typeface="Arial"/>
                <a:ea typeface="Arial"/>
                <a:cs typeface="Arial"/>
              </a:rPr>
              <a:t>Incident reporting and review</a:t>
            </a:r>
          </a:p>
          <a:p xmlns:a="http://schemas.openxmlformats.org/drawingml/2006/main">
            <a:pPr algn="l">
              <a:lnSpc>
                <a:spcPct val="125000"/>
              </a:lnSpc>
              <a:buNone/>
              <a:defRPr sz="1725" b="0">
                <a:solidFill>
                  <a:srgbClr val="172B3A"/>
                </a:solidFill>
                <a:latin typeface="Arial"/>
                <a:ea typeface="Arial"/>
                <a:cs typeface="Arial"/>
              </a:defRPr>
            </a:pPr>
            <a:r>
              <a:rPr sz="1725" b="0">
                <a:solidFill>
                  <a:srgbClr val="172B3A"/>
                </a:solidFill>
                <a:latin typeface="Arial"/>
                <a:ea typeface="Arial"/>
                <a:cs typeface="Arial"/>
              </a:rPr>
              <a:t>Operations dashboard and queue</a:t>
            </a:r>
          </a:p>
          <a:p xmlns:a="http://schemas.openxmlformats.org/drawingml/2006/main">
            <a:pPr algn="l">
              <a:lnSpc>
                <a:spcPct val="125000"/>
              </a:lnSpc>
              <a:buNone/>
              <a:defRPr sz="1725" b="0">
                <a:solidFill>
                  <a:srgbClr val="172B3A"/>
                </a:solidFill>
                <a:latin typeface="Arial"/>
                <a:ea typeface="Arial"/>
                <a:cs typeface="Arial"/>
              </a:defRPr>
            </a:pPr>
            <a:r>
              <a:rPr sz="1725" b="0">
                <a:solidFill>
                  <a:srgbClr val="172B3A"/>
                </a:solidFill>
                <a:latin typeface="Arial"/>
                <a:ea typeface="Arial"/>
                <a:cs typeface="Arial"/>
              </a:rPr>
              <a:t>Leaflet map and resource command center</a:t>
            </a:r>
          </a:p>
          <a:p xmlns:a="http://schemas.openxmlformats.org/drawingml/2006/main">
            <a:pPr algn="l">
              <a:lnSpc>
                <a:spcPct val="125000"/>
              </a:lnSpc>
              <a:buNone/>
              <a:defRPr sz="1725" b="0">
                <a:solidFill>
                  <a:srgbClr val="172B3A"/>
                </a:solidFill>
                <a:latin typeface="Arial"/>
                <a:ea typeface="Arial"/>
                <a:cs typeface="Arial"/>
              </a:defRPr>
            </a:pPr>
            <a:r>
              <a:rPr sz="1725" b="0">
                <a:solidFill>
                  <a:srgbClr val="172B3A"/>
                </a:solidFill>
                <a:latin typeface="Arial"/>
                <a:ea typeface="Arial"/>
                <a:cs typeface="Arial"/>
              </a:rPr>
              <a:t>Copilot, situations, notifications</a:t>
            </a:r>
          </a:p>
        </p:txBody>
      </p:sp>
      <p:sp>
        <p:nvSpPr>
          <p:cNvPr id="6" name="evidence-note">
            <a:extLst xmlns:a="http://schemas.openxmlformats.org/drawingml/2006/main">
              <a:ext uri="{FF2B5EF4-FFF2-40B4-BE49-F238E27FC236}">
                <a16:creationId xmlns:a16="http://schemas.microsoft.com/office/drawing/2014/main" id="{DDF07900-9DCF-434F-A53A-72F71F4D843B}"/>
              </a:ext>
            </a:extLst>
          </p:cNvPr>
          <p:cNvSpPr>
            <a:spLocks xmlns:a="http://schemas.openxmlformats.org/drawingml/2006/main" noGrp="1"/>
          </p:cNvSpPr>
          <p:nvPr/>
        </p:nvSpPr>
        <p:spPr>
          <a:xfrm xmlns:a="http://schemas.openxmlformats.org/drawingml/2006/main">
            <a:off x="7943850" y="3924300"/>
            <a:ext cx="36766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6475"/>
                </a:solidFill>
                <a:latin typeface="Arial"/>
                <a:ea typeface="Arial"/>
                <a:cs typeface="Arial"/>
              </a:defRPr>
            </a:defPPr>
          </a:lstStyle>
          <a:p xmlns:a="http://schemas.openxmlformats.org/drawingml/2006/main">
            <a:pPr algn="l">
              <a:lnSpc>
                <a:spcPct val="118000"/>
              </a:lnSpc>
              <a:buNone/>
              <a:defRPr sz="1350" b="0">
                <a:solidFill>
                  <a:srgbClr val="526475"/>
                </a:solidFill>
                <a:latin typeface="Arial"/>
                <a:ea typeface="Arial"/>
                <a:cs typeface="Arial"/>
              </a:defRPr>
            </a:pPr>
            <a:r>
              <a:rPr sz="1350" b="0">
                <a:solidFill>
                  <a:srgbClr val="526475"/>
                </a:solidFill>
                <a:latin typeface="Arial"/>
                <a:ea typeface="Arial"/>
                <a:cs typeface="Arial"/>
              </a:rPr>
              <a:t>Actual Operator capture, 15 Oct 2026</a:t>
            </a:r>
          </a:p>
          <a:p xmlns:a="http://schemas.openxmlformats.org/drawingml/2006/main">
            <a:pPr algn="l">
              <a:lnSpc>
                <a:spcPct val="118000"/>
              </a:lnSpc>
              <a:buNone/>
              <a:defRPr sz="1350" b="0">
                <a:solidFill>
                  <a:srgbClr val="526475"/>
                </a:solidFill>
                <a:latin typeface="Arial"/>
                <a:ea typeface="Arial"/>
                <a:cs typeface="Arial"/>
              </a:defRPr>
            </a:pPr>
            <a:r>
              <a:rPr sz="1350" b="0">
                <a:solidFill>
                  <a:srgbClr val="526475"/>
                </a:solidFill>
                <a:latin typeface="Arial"/>
                <a:ea typeface="Arial"/>
                <a:cs typeface="Arial"/>
              </a:rPr>
              <a:t>Six synthetic incidents and resources shown.</a:t>
            </a:r>
          </a:p>
          <a:p xmlns:a="http://schemas.openxmlformats.org/drawingml/2006/main">
            <a:pPr algn="l">
              <a:lnSpc>
                <a:spcPct val="118000"/>
              </a:lnSpc>
              <a:buNone/>
              <a:defRPr sz="1350" b="0">
                <a:solidFill>
                  <a:srgbClr val="526475"/>
                </a:solidFill>
                <a:latin typeface="Arial"/>
                <a:ea typeface="Arial"/>
                <a:cs typeface="Arial"/>
              </a:defRPr>
            </a:pPr>
            <a:r>
              <a:rPr sz="1350" b="0">
                <a:solidFill>
                  <a:srgbClr val="526475"/>
                </a:solidFill>
                <a:latin typeface="Arial"/>
                <a:ea typeface="Arial"/>
                <a:cs typeface="Arial"/>
              </a:rPr>
              <a:t>Capture predates later UI polish. Attribution is partly clipped. Current final-state capture pending.</a:t>
            </a:r>
          </a:p>
        </p:txBody>
      </p:sp>
    </p:spTree>
    <p:extLst>
      <p:ext uri="{BB962C8B-B14F-4D97-AF65-F5344CB8AC3E}">
        <p14:creationId xmlns:p14="http://schemas.microsoft.com/office/powerpoint/2010/main" val="2046477235"/>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9A84ED49-FDC6-48DA-8DB8-AD00548A2918}"/>
              </a:ext>
            </a:extLst>
          </p:cNvPr>
          <p:cNvCxnSpPr>
            <a:stCxn xmlns:a="http://schemas.openxmlformats.org/drawingml/2006/main" id="8" idx="2"/>
            <a:endCxn xmlns:a="http://schemas.openxmlformats.org/drawingml/2006/main" id="11" idx="0"/>
          </p:cNvCxnSpPr>
          <p:nvPr/>
        </p:nvCxnSpPr>
        <p:spPr>
          <a:xfrm xmlns:a="http://schemas.openxmlformats.org/drawingml/2006/main">
            <a:off x="7477125" y="4419600"/>
            <a:ext cx="1143000" cy="857250"/>
          </a:xfrm>
          <a:prstGeom xmlns:a="http://schemas.openxmlformats.org/drawingml/2006/main" prst="straightConnector1">
            <a:avLst/>
          </a:prstGeom>
          <a:ln xmlns:a="http://schemas.openxmlformats.org/drawingml/2006/main" w="19050">
            <a:solidFill>
              <a:srgbClr val="8DA4B8"/>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50A31AE3-5D86-4F90-8D32-C60A9441A6F0}"/>
              </a:ext>
            </a:extLst>
          </p:cNvPr>
          <p:cNvCxnSpPr>
            <a:stCxn xmlns:a="http://schemas.openxmlformats.org/drawingml/2006/main" id="8" idx="2"/>
            <a:endCxn xmlns:a="http://schemas.openxmlformats.org/drawingml/2006/main" id="10" idx="0"/>
          </p:cNvCxnSpPr>
          <p:nvPr/>
        </p:nvCxnSpPr>
        <p:spPr>
          <a:xfrm xmlns:a="http://schemas.openxmlformats.org/drawingml/2006/main" flipH="1">
            <a:off x="4762500" y="4419600"/>
            <a:ext cx="2714625" cy="857250"/>
          </a:xfrm>
          <a:prstGeom xmlns:a="http://schemas.openxmlformats.org/drawingml/2006/main" prst="straightConnector1">
            <a:avLst/>
          </a:prstGeom>
          <a:ln xmlns:a="http://schemas.openxmlformats.org/drawingml/2006/main" w="19050">
            <a:solidFill>
              <a:srgbClr val="8DA4B8"/>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1BE93D0E-632C-467C-BBD7-F43DCF9E2ECF}"/>
              </a:ext>
            </a:extLst>
          </p:cNvPr>
          <p:cNvCxnSpPr>
            <a:stCxn xmlns:a="http://schemas.openxmlformats.org/drawingml/2006/main" id="8" idx="3"/>
            <a:endCxn xmlns:a="http://schemas.openxmlformats.org/drawingml/2006/main" id="9" idx="1"/>
          </p:cNvCxnSpPr>
          <p:nvPr/>
        </p:nvCxnSpPr>
        <p:spPr>
          <a:xfrm xmlns:a="http://schemas.openxmlformats.org/drawingml/2006/main">
            <a:off x="8763000" y="4029075"/>
            <a:ext cx="1143000" cy="0"/>
          </a:xfrm>
          <a:prstGeom xmlns:a="http://schemas.openxmlformats.org/drawingml/2006/main" prst="straightConnector1">
            <a:avLst/>
          </a:prstGeom>
          <a:ln xmlns:a="http://schemas.openxmlformats.org/drawingml/2006/main" w="19050">
            <a:solidFill>
              <a:srgbClr val="8DA4B8"/>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49ABB9DD-1015-438D-8C5A-81DE10EBD4C5}"/>
              </a:ext>
            </a:extLst>
          </p:cNvPr>
          <p:cNvCxnSpPr>
            <a:stCxn xmlns:a="http://schemas.openxmlformats.org/drawingml/2006/main" id="6" idx="2"/>
            <a:endCxn xmlns:a="http://schemas.openxmlformats.org/drawingml/2006/main" id="8" idx="0"/>
          </p:cNvCxnSpPr>
          <p:nvPr/>
        </p:nvCxnSpPr>
        <p:spPr>
          <a:xfrm xmlns:a="http://schemas.openxmlformats.org/drawingml/2006/main" flipH="1">
            <a:off x="7477125" y="2419350"/>
            <a:ext cx="1114425" cy="1219200"/>
          </a:xfrm>
          <a:prstGeom xmlns:a="http://schemas.openxmlformats.org/drawingml/2006/main" prst="straightConnector1">
            <a:avLst/>
          </a:prstGeom>
          <a:ln xmlns:a="http://schemas.openxmlformats.org/drawingml/2006/main" w="19050">
            <a:solidFill>
              <a:srgbClr val="8DA4B8"/>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B8421946-9122-49E9-8613-25E1A4E5948D}"/>
              </a:ext>
            </a:extLst>
          </p:cNvPr>
          <p:cNvCxnSpPr>
            <a:stCxn xmlns:a="http://schemas.openxmlformats.org/drawingml/2006/main" id="6" idx="2"/>
            <a:endCxn xmlns:a="http://schemas.openxmlformats.org/drawingml/2006/main" id="7" idx="0"/>
          </p:cNvCxnSpPr>
          <p:nvPr/>
        </p:nvCxnSpPr>
        <p:spPr>
          <a:xfrm xmlns:a="http://schemas.openxmlformats.org/drawingml/2006/main" flipH="1">
            <a:off x="3781425" y="2419350"/>
            <a:ext cx="4810125" cy="1219200"/>
          </a:xfrm>
          <a:prstGeom xmlns:a="http://schemas.openxmlformats.org/drawingml/2006/main" prst="straightConnector1">
            <a:avLst/>
          </a:prstGeom>
          <a:ln xmlns:a="http://schemas.openxmlformats.org/drawingml/2006/main" w="19050">
            <a:solidFill>
              <a:srgbClr val="8DA4B8"/>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F71CF957-6B69-4E8A-A0E8-17D4BC9FF895}"/>
              </a:ext>
            </a:extLst>
          </p:cNvPr>
          <p:cNvCxnSpPr>
            <a:stCxn xmlns:a="http://schemas.openxmlformats.org/drawingml/2006/main" id="5" idx="3"/>
            <a:endCxn xmlns:a="http://schemas.openxmlformats.org/drawingml/2006/main" id="6" idx="1"/>
          </p:cNvCxnSpPr>
          <p:nvPr/>
        </p:nvCxnSpPr>
        <p:spPr>
          <a:xfrm xmlns:a="http://schemas.openxmlformats.org/drawingml/2006/main">
            <a:off x="5715000" y="2028825"/>
            <a:ext cx="1447800" cy="0"/>
          </a:xfrm>
          <a:prstGeom xmlns:a="http://schemas.openxmlformats.org/drawingml/2006/main" prst="straightConnector1">
            <a:avLst/>
          </a:prstGeom>
          <a:ln xmlns:a="http://schemas.openxmlformats.org/drawingml/2006/main" w="19050">
            <a:solidFill>
              <a:srgbClr val="8DA4B8"/>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8655936A-D005-4E22-BAC6-577A822358C9}"/>
              </a:ext>
            </a:extLst>
          </p:cNvPr>
          <p:cNvCxnSpPr>
            <a:stCxn xmlns:a="http://schemas.openxmlformats.org/drawingml/2006/main" id="4" idx="3"/>
            <a:endCxn xmlns:a="http://schemas.openxmlformats.org/drawingml/2006/main" id="5" idx="1"/>
          </p:cNvCxnSpPr>
          <p:nvPr/>
        </p:nvCxnSpPr>
        <p:spPr>
          <a:xfrm xmlns:a="http://schemas.openxmlformats.org/drawingml/2006/main">
            <a:off x="2514600" y="2028825"/>
            <a:ext cx="1009650" cy="0"/>
          </a:xfrm>
          <a:prstGeom xmlns:a="http://schemas.openxmlformats.org/drawingml/2006/main" prst="straightConnector1">
            <a:avLst/>
          </a:prstGeom>
          <a:ln xmlns:a="http://schemas.openxmlformats.org/drawingml/2006/main" w="19050">
            <a:solidFill>
              <a:srgbClr val="8DA4B8"/>
            </a:solidFill>
            <a:prstDash val="solid"/>
            <a:tailEnd type="arrow" w="med" len="med"/>
          </a:ln>
        </p:spPr>
      </p:cxnSp>
      <p:sp>
        <p:nvSpPr>
          <p:cNvPr id="20" name="slide-kicker">
            <a:extLst xmlns:a="http://schemas.openxmlformats.org/drawingml/2006/main">
              <a:ext uri="{FF2B5EF4-FFF2-40B4-BE49-F238E27FC236}">
                <a16:creationId xmlns:a16="http://schemas.microsoft.com/office/drawing/2014/main" id="{30B61777-7DE9-455A-AF33-514FEA6590C2}"/>
              </a:ext>
            </a:extLst>
          </p:cNvPr>
          <p:cNvSpPr>
            <a:spLocks xmlns:a="http://schemas.openxmlformats.org/drawingml/2006/main" noGrp="1"/>
          </p:cNvSpPr>
          <p:nvPr/>
        </p:nvSpPr>
        <p:spPr>
          <a:xfrm xmlns:a="http://schemas.openxmlformats.org/drawingml/2006/main">
            <a:off x="552450" y="3238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7D78"/>
                </a:solidFill>
                <a:latin typeface="Arial"/>
                <a:ea typeface="Arial"/>
                <a:cs typeface="Arial"/>
              </a:defRPr>
            </a:defPPr>
          </a:lstStyle>
          <a:p xmlns:a="http://schemas.openxmlformats.org/drawingml/2006/main">
            <a:pPr algn="l">
              <a:lnSpc>
                <a:spcPct val="108000"/>
              </a:lnSpc>
              <a:buNone/>
              <a:defRPr sz="1050" b="1">
                <a:solidFill>
                  <a:srgbClr val="147D78"/>
                </a:solidFill>
                <a:latin typeface="Arial"/>
                <a:ea typeface="Arial"/>
                <a:cs typeface="Arial"/>
              </a:defRPr>
            </a:pPr>
            <a:r>
              <a:rPr sz="1050" b="1">
                <a:solidFill>
                  <a:srgbClr val="147D78"/>
                </a:solidFill>
                <a:latin typeface="Arial"/>
                <a:ea typeface="Arial"/>
                <a:cs typeface="Arial"/>
              </a:rPr>
              <a:t>AI EMERGENCY RESPONSE</a:t>
            </a:r>
          </a:p>
        </p:txBody>
      </p:sp>
      <p:sp>
        <p:nvSpPr>
          <p:cNvPr id="2" name="slide-title">
            <a:extLst xmlns:a="http://schemas.openxmlformats.org/drawingml/2006/main">
              <a:ext uri="{FF2B5EF4-FFF2-40B4-BE49-F238E27FC236}">
                <a16:creationId xmlns:a16="http://schemas.microsoft.com/office/drawing/2014/main" id="{587BF98E-E79B-4B6A-95B1-F99171C49414}"/>
              </a:ext>
            </a:extLst>
          </p:cNvPr>
          <p:cNvSpPr>
            <a:spLocks xmlns:a="http://schemas.openxmlformats.org/drawingml/2006/main" noGrp="1"/>
          </p:cNvSpPr>
          <p:nvPr/>
        </p:nvSpPr>
        <p:spPr>
          <a:xfrm xmlns:a="http://schemas.openxmlformats.org/drawingml/2006/main">
            <a:off x="552450" y="6858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02A43"/>
                </a:solidFill>
                <a:latin typeface="Arial"/>
                <a:ea typeface="Arial"/>
                <a:cs typeface="Arial"/>
              </a:defRPr>
            </a:defPPr>
          </a:lstStyle>
          <a:p xmlns:a="http://schemas.openxmlformats.org/drawingml/2006/main">
            <a:pPr algn="l">
              <a:lnSpc>
                <a:spcPct val="108000"/>
              </a:lnSpc>
              <a:buNone/>
              <a:defRPr sz="3150" b="1">
                <a:solidFill>
                  <a:srgbClr val="102A43"/>
                </a:solidFill>
                <a:latin typeface="Arial"/>
                <a:ea typeface="Arial"/>
                <a:cs typeface="Arial"/>
              </a:defRPr>
            </a:pPr>
            <a:r>
              <a:rPr sz="3150" b="1">
                <a:solidFill>
                  <a:srgbClr val="102A43"/>
                </a:solidFill>
                <a:latin typeface="Arial"/>
                <a:ea typeface="Arial"/>
                <a:cs typeface="Arial"/>
              </a:rPr>
              <a:t>Architecture and technology</a:t>
            </a:r>
          </a:p>
        </p:txBody>
      </p:sp>
      <p:sp>
        <p:nvSpPr>
          <p:cNvPr id="3" name="slide-number">
            <a:extLst xmlns:a="http://schemas.openxmlformats.org/drawingml/2006/main">
              <a:ext uri="{FF2B5EF4-FFF2-40B4-BE49-F238E27FC236}">
                <a16:creationId xmlns:a16="http://schemas.microsoft.com/office/drawing/2014/main" id="{4B7282EC-3ABD-43EF-8CE8-3C8CBAB542D6}"/>
              </a:ext>
            </a:extLst>
          </p:cNvPr>
          <p:cNvSpPr>
            <a:spLocks xmlns:a="http://schemas.openxmlformats.org/drawingml/2006/main" noGrp="1"/>
          </p:cNvSpPr>
          <p:nvPr/>
        </p:nvSpPr>
        <p:spPr>
          <a:xfrm xmlns:a="http://schemas.openxmlformats.org/drawingml/2006/main">
            <a:off x="11163300" y="6400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475"/>
                </a:solidFill>
                <a:latin typeface="Arial"/>
                <a:ea typeface="Arial"/>
                <a:cs typeface="Arial"/>
              </a:defRPr>
            </a:defPPr>
          </a:lstStyle>
          <a:p xmlns:a="http://schemas.openxmlformats.org/drawingml/2006/main">
            <a:pPr algn="r">
              <a:lnSpc>
                <a:spcPct val="108000"/>
              </a:lnSpc>
              <a:buNone/>
              <a:defRPr sz="1050" b="0">
                <a:solidFill>
                  <a:srgbClr val="526475"/>
                </a:solidFill>
                <a:latin typeface="Arial"/>
                <a:ea typeface="Arial"/>
                <a:cs typeface="Arial"/>
              </a:defRPr>
            </a:pPr>
            <a:r>
              <a:rPr sz="1050" b="0">
                <a:solidFill>
                  <a:srgbClr val="526475"/>
                </a:solidFill>
                <a:latin typeface="Arial"/>
                <a:ea typeface="Arial"/>
                <a:cs typeface="Arial"/>
              </a:rPr>
              <a:t>04</a:t>
            </a:r>
          </a:p>
        </p:txBody>
      </p:sp>
      <p:sp>
        <p:nvSpPr>
          <p:cNvPr id="4" name="browser">
            <a:extLst xmlns:a="http://schemas.openxmlformats.org/drawingml/2006/main">
              <a:ext uri="{FF2B5EF4-FFF2-40B4-BE49-F238E27FC236}">
                <a16:creationId xmlns:a16="http://schemas.microsoft.com/office/drawing/2014/main" id="{1F488DA2-9F1F-4A2F-8596-1B1C834283B5}"/>
              </a:ext>
            </a:extLst>
          </p:cNvPr>
          <p:cNvSpPr>
            <a:spLocks xmlns:a="http://schemas.openxmlformats.org/drawingml/2006/main" noGrp="1"/>
          </p:cNvSpPr>
          <p:nvPr/>
        </p:nvSpPr>
        <p:spPr>
          <a:xfrm xmlns:a="http://schemas.openxmlformats.org/drawingml/2006/main">
            <a:off x="514350" y="1638300"/>
            <a:ext cx="20002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98883"/>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Browser</a:t>
            </a:r>
          </a:p>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Razor + JavaScript</a:t>
            </a:r>
          </a:p>
        </p:txBody>
      </p:sp>
      <p:sp>
        <p:nvSpPr>
          <p:cNvPr id="5" name="web">
            <a:extLst xmlns:a="http://schemas.openxmlformats.org/drawingml/2006/main">
              <a:ext uri="{FF2B5EF4-FFF2-40B4-BE49-F238E27FC236}">
                <a16:creationId xmlns:a16="http://schemas.microsoft.com/office/drawing/2014/main" id="{37FB02BE-6DB5-4B06-98EE-0FB4EA8AF142}"/>
              </a:ext>
            </a:extLst>
          </p:cNvPr>
          <p:cNvSpPr>
            <a:spLocks xmlns:a="http://schemas.openxmlformats.org/drawingml/2006/main" noGrp="1"/>
          </p:cNvSpPr>
          <p:nvPr/>
        </p:nvSpPr>
        <p:spPr>
          <a:xfrm xmlns:a="http://schemas.openxmlformats.org/drawingml/2006/main">
            <a:off x="3524250" y="1638300"/>
            <a:ext cx="21907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100000"/>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ASP.NET Core</a:t>
            </a:r>
          </a:p>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MVC Web</a:t>
            </a:r>
          </a:p>
        </p:txBody>
      </p:sp>
      <p:sp>
        <p:nvSpPr>
          <p:cNvPr id="6" name="api">
            <a:extLst xmlns:a="http://schemas.openxmlformats.org/drawingml/2006/main">
              <a:ext uri="{FF2B5EF4-FFF2-40B4-BE49-F238E27FC236}">
                <a16:creationId xmlns:a16="http://schemas.microsoft.com/office/drawing/2014/main" id="{DCB45AF8-B5FB-4119-B1DB-2F34FB91F8F5}"/>
              </a:ext>
            </a:extLst>
          </p:cNvPr>
          <p:cNvSpPr>
            <a:spLocks xmlns:a="http://schemas.openxmlformats.org/drawingml/2006/main" noGrp="1"/>
          </p:cNvSpPr>
          <p:nvPr/>
        </p:nvSpPr>
        <p:spPr>
          <a:xfrm xmlns:a="http://schemas.openxmlformats.org/drawingml/2006/main">
            <a:off x="7162800" y="1638300"/>
            <a:ext cx="285750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90645"/>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ASP.NET Core API</a:t>
            </a:r>
          </a:p>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SignalR + selected consumers</a:t>
            </a:r>
          </a:p>
        </p:txBody>
      </p:sp>
      <p:sp>
        <p:nvSpPr>
          <p:cNvPr id="7" name="application-domain">
            <a:extLst xmlns:a="http://schemas.openxmlformats.org/drawingml/2006/main">
              <a:ext uri="{FF2B5EF4-FFF2-40B4-BE49-F238E27FC236}">
                <a16:creationId xmlns:a16="http://schemas.microsoft.com/office/drawing/2014/main" id="{5D658D50-3CAD-45AB-BF0D-93F4688E402B}"/>
              </a:ext>
            </a:extLst>
          </p:cNvPr>
          <p:cNvSpPr>
            <a:spLocks xmlns:a="http://schemas.openxmlformats.org/drawingml/2006/main" noGrp="1"/>
          </p:cNvSpPr>
          <p:nvPr/>
        </p:nvSpPr>
        <p:spPr>
          <a:xfrm xmlns:a="http://schemas.openxmlformats.org/drawingml/2006/main">
            <a:off x="2495550" y="3638550"/>
            <a:ext cx="25717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100000"/>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Application contracts</a:t>
            </a:r>
          </a:p>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and Domain rules</a:t>
            </a:r>
          </a:p>
        </p:txBody>
      </p:sp>
      <p:sp>
        <p:nvSpPr>
          <p:cNvPr id="8" name="infrastructure">
            <a:extLst xmlns:a="http://schemas.openxmlformats.org/drawingml/2006/main">
              <a:ext uri="{FF2B5EF4-FFF2-40B4-BE49-F238E27FC236}">
                <a16:creationId xmlns:a16="http://schemas.microsoft.com/office/drawing/2014/main" id="{36666DF0-391C-4E2C-80B8-62880DC22219}"/>
              </a:ext>
            </a:extLst>
          </p:cNvPr>
          <p:cNvSpPr>
            <a:spLocks xmlns:a="http://schemas.openxmlformats.org/drawingml/2006/main" noGrp="1"/>
          </p:cNvSpPr>
          <p:nvPr/>
        </p:nvSpPr>
        <p:spPr>
          <a:xfrm xmlns:a="http://schemas.openxmlformats.org/drawingml/2006/main">
            <a:off x="6191250" y="3638550"/>
            <a:ext cx="25717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100000"/>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Infrastructure</a:t>
            </a:r>
          </a:p>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EF Core + integrations</a:t>
            </a:r>
          </a:p>
        </p:txBody>
      </p:sp>
      <p:sp>
        <p:nvSpPr>
          <p:cNvPr id="9" name="sql">
            <a:extLst xmlns:a="http://schemas.openxmlformats.org/drawingml/2006/main">
              <a:ext uri="{FF2B5EF4-FFF2-40B4-BE49-F238E27FC236}">
                <a16:creationId xmlns:a16="http://schemas.microsoft.com/office/drawing/2014/main" id="{95FCF87A-78FE-4810-8205-95AFE020DD82}"/>
              </a:ext>
            </a:extLst>
          </p:cNvPr>
          <p:cNvSpPr>
            <a:spLocks xmlns:a="http://schemas.openxmlformats.org/drawingml/2006/main" noGrp="1"/>
          </p:cNvSpPr>
          <p:nvPr/>
        </p:nvSpPr>
        <p:spPr>
          <a:xfrm xmlns:a="http://schemas.openxmlformats.org/drawingml/2006/main">
            <a:off x="9906000" y="3638550"/>
            <a:ext cx="1809750" cy="78105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100000"/>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SQL Server</a:t>
            </a:r>
          </a:p>
        </p:txBody>
      </p:sp>
      <p:sp>
        <p:nvSpPr>
          <p:cNvPr id="10" name="providers">
            <a:extLst xmlns:a="http://schemas.openxmlformats.org/drawingml/2006/main">
              <a:ext uri="{FF2B5EF4-FFF2-40B4-BE49-F238E27FC236}">
                <a16:creationId xmlns:a16="http://schemas.microsoft.com/office/drawing/2014/main" id="{9E1529AD-0588-4283-B3D4-55BAF4A292C0}"/>
              </a:ext>
            </a:extLst>
          </p:cNvPr>
          <p:cNvSpPr>
            <a:spLocks xmlns:a="http://schemas.openxmlformats.org/drawingml/2006/main" noGrp="1"/>
          </p:cNvSpPr>
          <p:nvPr/>
        </p:nvSpPr>
        <p:spPr>
          <a:xfrm xmlns:a="http://schemas.openxmlformats.org/drawingml/2006/main">
            <a:off x="3429000" y="5276850"/>
            <a:ext cx="266700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100000"/>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Configured AI, Search,</a:t>
            </a:r>
          </a:p>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private media/storage</a:t>
            </a:r>
          </a:p>
        </p:txBody>
      </p:sp>
      <p:sp>
        <p:nvSpPr>
          <p:cNvPr id="11" name="service-bus">
            <a:extLst xmlns:a="http://schemas.openxmlformats.org/drawingml/2006/main">
              <a:ext uri="{FF2B5EF4-FFF2-40B4-BE49-F238E27FC236}">
                <a16:creationId xmlns:a16="http://schemas.microsoft.com/office/drawing/2014/main" id="{D0E91B2F-06A4-4D35-A32F-B3E729670C1A}"/>
              </a:ext>
            </a:extLst>
          </p:cNvPr>
          <p:cNvSpPr>
            <a:spLocks xmlns:a="http://schemas.openxmlformats.org/drawingml/2006/main" noGrp="1"/>
          </p:cNvSpPr>
          <p:nvPr/>
        </p:nvSpPr>
        <p:spPr>
          <a:xfrm xmlns:a="http://schemas.openxmlformats.org/drawingml/2006/main">
            <a:off x="7524750" y="5276850"/>
            <a:ext cx="2190750" cy="685800"/>
          </a:xfrm>
          <a:prstGeom xmlns:a="http://schemas.openxmlformats.org/drawingml/2006/main" prst="rect">
            <a:avLst/>
          </a:prstGeom>
          <a:solidFill xmlns:a="http://schemas.openxmlformats.org/drawingml/2006/main">
            <a:srgbClr val="FFFFFF"/>
          </a:solidFill>
          <a:ln xmlns:a="http://schemas.openxmlformats.org/drawingml/2006/main" w="19050">
            <a:solidFill>
              <a:srgbClr val="2457A7"/>
            </a:solidFill>
            <a:prstDash val="solid"/>
          </a:ln>
        </p:spPr>
        <p:txBody>
          <a:bodyPr xmlns:a="http://schemas.openxmlformats.org/drawingml/2006/main" wrap="square" lIns="114300" tIns="76200" rIns="114300" bIns="76200" anchor="ctr">
            <a:normAutofit fontScale="100000"/>
          </a:bodyPr>
          <a:lstStyle xmlns:a="http://schemas.openxmlformats.org/drawingml/2006/main">
            <a:defPPr algn="ctr">
              <a:defRPr sz="1575" b="1">
                <a:solidFill>
                  <a:srgbClr val="172B3A"/>
                </a:solidFill>
                <a:latin typeface="Arial"/>
                <a:ea typeface="Arial"/>
                <a:cs typeface="Arial"/>
              </a:defRPr>
            </a:defPPr>
          </a:lstStyle>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Service Bus</a:t>
            </a:r>
          </a:p>
          <a:p xmlns:a="http://schemas.openxmlformats.org/drawingml/2006/main">
            <a:pPr algn="ctr">
              <a:defRPr sz="1575" b="1">
                <a:solidFill>
                  <a:srgbClr val="172B3A"/>
                </a:solidFill>
                <a:latin typeface="Arial"/>
                <a:ea typeface="Arial"/>
                <a:cs typeface="Arial"/>
              </a:defRPr>
            </a:pPr>
            <a:r>
              <a:rPr sz="1575" b="1">
                <a:solidFill>
                  <a:srgbClr val="172B3A"/>
                </a:solidFill>
                <a:latin typeface="Arial"/>
                <a:ea typeface="Arial"/>
                <a:cs typeface="Arial"/>
              </a:rPr>
              <a:t>selected jobs</a:t>
            </a:r>
          </a:p>
        </p:txBody>
      </p:sp>
      <p:sp>
        <p:nvSpPr>
          <p:cNvPr id="19" name="stack-note">
            <a:extLst xmlns:a="http://schemas.openxmlformats.org/drawingml/2006/main">
              <a:ext uri="{FF2B5EF4-FFF2-40B4-BE49-F238E27FC236}">
                <a16:creationId xmlns:a16="http://schemas.microsoft.com/office/drawing/2014/main" id="{726CB122-046E-4C17-A8FE-BC72A26E3AD9}"/>
              </a:ext>
            </a:extLst>
          </p:cNvPr>
          <p:cNvSpPr>
            <a:spLocks xmlns:a="http://schemas.openxmlformats.org/drawingml/2006/main" noGrp="1"/>
          </p:cNvSpPr>
          <p:nvPr/>
        </p:nvSpPr>
        <p:spPr>
          <a:xfrm xmlns:a="http://schemas.openxmlformats.org/drawingml/2006/main">
            <a:off x="571500" y="626745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475"/>
                </a:solidFill>
                <a:latin typeface="Arial"/>
                <a:ea typeface="Arial"/>
                <a:cs typeface="Arial"/>
              </a:defRPr>
            </a:defPPr>
          </a:lstStyle>
          <a:p xmlns:a="http://schemas.openxmlformats.org/drawingml/2006/main">
            <a:pPr algn="l">
              <a:lnSpc>
                <a:spcPct val="108000"/>
              </a:lnSpc>
              <a:buNone/>
              <a:defRPr sz="1200" b="0">
                <a:solidFill>
                  <a:srgbClr val="526475"/>
                </a:solidFill>
                <a:latin typeface="Arial"/>
                <a:ea typeface="Arial"/>
                <a:cs typeface="Arial"/>
              </a:defRPr>
            </a:pPr>
            <a:r>
              <a:rPr sz="1200" b="0">
                <a:solidFill>
                  <a:srgbClr val="526475"/>
                </a:solidFill>
                <a:latin typeface="Arial"/>
                <a:ea typeface="Arial"/>
                <a:cs typeface="Arial"/>
              </a:rPr>
              <a:t>C#, .NET 10, EF Core, SQL Server, Leaflet, SignalR, ML.NET, Docker, Azure Bicep</a:t>
            </a:r>
          </a:p>
        </p:txBody>
      </p:sp>
    </p:spTree>
    <p:extLst>
      <p:ext uri="{BB962C8B-B14F-4D97-AF65-F5344CB8AC3E}">
        <p14:creationId xmlns:p14="http://schemas.microsoft.com/office/powerpoint/2010/main" val="1078213969"/>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6" name="slide-kicker">
            <a:extLst xmlns:a="http://schemas.openxmlformats.org/drawingml/2006/main">
              <a:ext uri="{FF2B5EF4-FFF2-40B4-BE49-F238E27FC236}">
                <a16:creationId xmlns:a16="http://schemas.microsoft.com/office/drawing/2014/main" id="{14704468-C83C-4795-B7A0-FECD82BA954E}"/>
              </a:ext>
            </a:extLst>
          </p:cNvPr>
          <p:cNvSpPr>
            <a:spLocks xmlns:a="http://schemas.openxmlformats.org/drawingml/2006/main" noGrp="1"/>
          </p:cNvSpPr>
          <p:nvPr/>
        </p:nvSpPr>
        <p:spPr>
          <a:xfrm xmlns:a="http://schemas.openxmlformats.org/drawingml/2006/main">
            <a:off x="552450" y="3238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7D78"/>
                </a:solidFill>
                <a:latin typeface="Arial"/>
                <a:ea typeface="Arial"/>
                <a:cs typeface="Arial"/>
              </a:defRPr>
            </a:defPPr>
          </a:lstStyle>
          <a:p xmlns:a="http://schemas.openxmlformats.org/drawingml/2006/main">
            <a:pPr algn="l">
              <a:lnSpc>
                <a:spcPct val="108000"/>
              </a:lnSpc>
              <a:buNone/>
              <a:defRPr sz="1050" b="1">
                <a:solidFill>
                  <a:srgbClr val="147D78"/>
                </a:solidFill>
                <a:latin typeface="Arial"/>
                <a:ea typeface="Arial"/>
                <a:cs typeface="Arial"/>
              </a:defRPr>
            </a:pPr>
            <a:r>
              <a:rPr sz="1050" b="1">
                <a:solidFill>
                  <a:srgbClr val="147D78"/>
                </a:solidFill>
                <a:latin typeface="Arial"/>
                <a:ea typeface="Arial"/>
                <a:cs typeface="Arial"/>
              </a:rPr>
              <a:t>AI EMERGENCY RESPONSE</a:t>
            </a:r>
          </a:p>
        </p:txBody>
      </p:sp>
      <p:sp>
        <p:nvSpPr>
          <p:cNvPr id="2" name="slide-title">
            <a:extLst xmlns:a="http://schemas.openxmlformats.org/drawingml/2006/main">
              <a:ext uri="{FF2B5EF4-FFF2-40B4-BE49-F238E27FC236}">
                <a16:creationId xmlns:a16="http://schemas.microsoft.com/office/drawing/2014/main" id="{86DCA5B4-2999-45BE-B0B4-6A1D6A449D36}"/>
              </a:ext>
            </a:extLst>
          </p:cNvPr>
          <p:cNvSpPr>
            <a:spLocks xmlns:a="http://schemas.openxmlformats.org/drawingml/2006/main" noGrp="1"/>
          </p:cNvSpPr>
          <p:nvPr/>
        </p:nvSpPr>
        <p:spPr>
          <a:xfrm xmlns:a="http://schemas.openxmlformats.org/drawingml/2006/main">
            <a:off x="552450" y="6858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02A43"/>
                </a:solidFill>
                <a:latin typeface="Arial"/>
                <a:ea typeface="Arial"/>
                <a:cs typeface="Arial"/>
              </a:defRPr>
            </a:defPPr>
          </a:lstStyle>
          <a:p xmlns:a="http://schemas.openxmlformats.org/drawingml/2006/main">
            <a:pPr algn="l">
              <a:lnSpc>
                <a:spcPct val="108000"/>
              </a:lnSpc>
              <a:buNone/>
              <a:defRPr sz="3150" b="1">
                <a:solidFill>
                  <a:srgbClr val="102A43"/>
                </a:solidFill>
                <a:latin typeface="Arial"/>
                <a:ea typeface="Arial"/>
                <a:cs typeface="Arial"/>
              </a:defRPr>
            </a:pPr>
            <a:r>
              <a:rPr sz="3150" b="1">
                <a:solidFill>
                  <a:srgbClr val="102A43"/>
                </a:solidFill>
                <a:latin typeface="Arial"/>
                <a:ea typeface="Arial"/>
                <a:cs typeface="Arial"/>
              </a:rPr>
              <a:t>AI assistance, evidence, and permissions</a:t>
            </a:r>
          </a:p>
        </p:txBody>
      </p:sp>
      <p:sp>
        <p:nvSpPr>
          <p:cNvPr id="3" name="slide-number">
            <a:extLst xmlns:a="http://schemas.openxmlformats.org/drawingml/2006/main">
              <a:ext uri="{FF2B5EF4-FFF2-40B4-BE49-F238E27FC236}">
                <a16:creationId xmlns:a16="http://schemas.microsoft.com/office/drawing/2014/main" id="{6C7915BF-E55C-49E4-9584-2BEA1B72EB23}"/>
              </a:ext>
            </a:extLst>
          </p:cNvPr>
          <p:cNvSpPr>
            <a:spLocks xmlns:a="http://schemas.openxmlformats.org/drawingml/2006/main" noGrp="1"/>
          </p:cNvSpPr>
          <p:nvPr/>
        </p:nvSpPr>
        <p:spPr>
          <a:xfrm xmlns:a="http://schemas.openxmlformats.org/drawingml/2006/main">
            <a:off x="11163300" y="6400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475"/>
                </a:solidFill>
                <a:latin typeface="Arial"/>
                <a:ea typeface="Arial"/>
                <a:cs typeface="Arial"/>
              </a:defRPr>
            </a:defPPr>
          </a:lstStyle>
          <a:p xmlns:a="http://schemas.openxmlformats.org/drawingml/2006/main">
            <a:pPr algn="r">
              <a:lnSpc>
                <a:spcPct val="108000"/>
              </a:lnSpc>
              <a:buNone/>
              <a:defRPr sz="1050" b="0">
                <a:solidFill>
                  <a:srgbClr val="526475"/>
                </a:solidFill>
                <a:latin typeface="Arial"/>
                <a:ea typeface="Arial"/>
                <a:cs typeface="Arial"/>
              </a:defRPr>
            </a:pPr>
            <a:r>
              <a:rPr sz="1050" b="0">
                <a:solidFill>
                  <a:srgbClr val="526475"/>
                </a:solidFill>
                <a:latin typeface="Arial"/>
                <a:ea typeface="Arial"/>
                <a:cs typeface="Arial"/>
              </a:rPr>
              <a:t>05</a:t>
            </a:r>
          </a:p>
        </p:txBody>
      </p:sp>
      <p:sp>
        <p:nvSpPr>
          <p:cNvPr id="4" name="ai-points">
            <a:extLst xmlns:a="http://schemas.openxmlformats.org/drawingml/2006/main">
              <a:ext uri="{FF2B5EF4-FFF2-40B4-BE49-F238E27FC236}">
                <a16:creationId xmlns:a16="http://schemas.microsoft.com/office/drawing/2014/main" id="{05DB2269-70FD-4370-A8A9-2C721B0F7B6A}"/>
              </a:ext>
            </a:extLst>
          </p:cNvPr>
          <p:cNvSpPr>
            <a:spLocks xmlns:a="http://schemas.openxmlformats.org/drawingml/2006/main" noGrp="1"/>
          </p:cNvSpPr>
          <p:nvPr/>
        </p:nvSpPr>
        <p:spPr>
          <a:xfrm xmlns:a="http://schemas.openxmlformats.org/drawingml/2006/main">
            <a:off x="819150" y="1524000"/>
            <a:ext cx="10334625" cy="3714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2B3A"/>
                </a:solidFill>
                <a:latin typeface="Arial"/>
                <a:ea typeface="Arial"/>
                <a:cs typeface="Arial"/>
              </a:defRPr>
            </a:defPPr>
          </a:lstStyle>
          <a:p xmlns:a="http://schemas.openxmlformats.org/drawingml/2006/main">
            <a:pPr algn="l">
              <a:lnSpc>
                <a:spcPct val="122000"/>
              </a:lnSpc>
              <a:buNone/>
              <a:defRPr sz="1875" b="0">
                <a:solidFill>
                  <a:srgbClr val="172B3A"/>
                </a:solidFill>
                <a:latin typeface="Arial"/>
                <a:ea typeface="Arial"/>
                <a:cs typeface="Arial"/>
              </a:defRPr>
            </a:pPr>
            <a:r>
              <a:rPr sz="1875" b="0">
                <a:solidFill>
                  <a:srgbClr val="172B3A"/>
                </a:solidFill>
                <a:latin typeface="Arial"/>
                <a:ea typeface="Arial"/>
                <a:cs typeface="Arial"/>
              </a:rPr>
              <a:t>Configured AI and Search can support extraction and Copilot.</a:t>
            </a:r>
          </a:p>
          <a:p xmlns:a="http://schemas.openxmlformats.org/drawingml/2006/main">
            <a:r>
              <a:t/>
            </a:r>
          </a:p>
          <a:p xmlns:a="http://schemas.openxmlformats.org/drawingml/2006/main">
            <a:pPr algn="l">
              <a:lnSpc>
                <a:spcPct val="122000"/>
              </a:lnSpc>
              <a:buNone/>
              <a:defRPr sz="1875" b="0">
                <a:solidFill>
                  <a:srgbClr val="172B3A"/>
                </a:solidFill>
                <a:latin typeface="Arial"/>
                <a:ea typeface="Arial"/>
                <a:cs typeface="Arial"/>
              </a:defRPr>
            </a:pPr>
            <a:r>
              <a:rPr sz="1875" b="0">
                <a:solidFill>
                  <a:srgbClr val="172B3A"/>
                </a:solidFill>
                <a:latin typeface="Arial"/>
                <a:ea typeface="Arial"/>
                <a:cs typeface="Arial"/>
              </a:rPr>
              <a:t>Show the actual grounding and citation state.</a:t>
            </a:r>
          </a:p>
          <a:p xmlns:a="http://schemas.openxmlformats.org/drawingml/2006/main">
            <a:r>
              <a:t/>
            </a:r>
          </a:p>
          <a:p xmlns:a="http://schemas.openxmlformats.org/drawingml/2006/main">
            <a:pPr algn="l">
              <a:lnSpc>
                <a:spcPct val="122000"/>
              </a:lnSpc>
              <a:buNone/>
              <a:defRPr sz="1875" b="0">
                <a:solidFill>
                  <a:srgbClr val="172B3A"/>
                </a:solidFill>
                <a:latin typeface="Arial"/>
                <a:ea typeface="Arial"/>
                <a:cs typeface="Arial"/>
              </a:defRPr>
            </a:pPr>
            <a:r>
              <a:rPr sz="1875" b="0">
                <a:solidFill>
                  <a:srgbClr val="172B3A"/>
                </a:solidFill>
                <a:latin typeface="Arial"/>
                <a:ea typeface="Arial"/>
                <a:cs typeface="Arial"/>
              </a:rPr>
              <a:t>Deterministic rules calculate severity and priority.</a:t>
            </a:r>
          </a:p>
          <a:p xmlns:a="http://schemas.openxmlformats.org/drawingml/2006/main">
            <a:r>
              <a:t/>
            </a:r>
          </a:p>
          <a:p xmlns:a="http://schemas.openxmlformats.org/drawingml/2006/main">
            <a:pPr algn="l">
              <a:lnSpc>
                <a:spcPct val="122000"/>
              </a:lnSpc>
              <a:buNone/>
              <a:defRPr sz="1875" b="0">
                <a:solidFill>
                  <a:srgbClr val="172B3A"/>
                </a:solidFill>
                <a:latin typeface="Arial"/>
                <a:ea typeface="Arial"/>
                <a:cs typeface="Arial"/>
              </a:defRPr>
            </a:pPr>
            <a:r>
              <a:rPr sz="1875" b="0">
                <a:solidFill>
                  <a:srgbClr val="172B3A"/>
                </a:solidFill>
                <a:latin typeface="Arial"/>
                <a:ea typeface="Arial"/>
                <a:cs typeface="Arial"/>
              </a:rPr>
              <a:t>Proposals require explicit approval and revalidation.</a:t>
            </a:r>
          </a:p>
          <a:p xmlns:a="http://schemas.openxmlformats.org/drawingml/2006/main">
            <a:r>
              <a:t/>
            </a:r>
          </a:p>
          <a:p xmlns:a="http://schemas.openxmlformats.org/drawingml/2006/main">
            <a:pPr algn="l">
              <a:lnSpc>
                <a:spcPct val="122000"/>
              </a:lnSpc>
              <a:buNone/>
              <a:defRPr sz="1875" b="0">
                <a:solidFill>
                  <a:srgbClr val="172B3A"/>
                </a:solidFill>
                <a:latin typeface="Arial"/>
                <a:ea typeface="Arial"/>
                <a:cs typeface="Arial"/>
              </a:defRPr>
            </a:pPr>
            <a:r>
              <a:rPr sz="1875" b="0">
                <a:solidFill>
                  <a:srgbClr val="172B3A"/>
                </a:solidFill>
                <a:latin typeface="Arial"/>
                <a:ea typeface="Arial"/>
                <a:cs typeface="Arial"/>
              </a:rPr>
              <a:t>Current action executors support notes or tags, not dispatch.</a:t>
            </a:r>
          </a:p>
        </p:txBody>
      </p:sp>
      <p:sp>
        <p:nvSpPr>
          <p:cNvPr id="5" name="fixture-caveat">
            <a:extLst xmlns:a="http://schemas.openxmlformats.org/drawingml/2006/main">
              <a:ext uri="{FF2B5EF4-FFF2-40B4-BE49-F238E27FC236}">
                <a16:creationId xmlns:a16="http://schemas.microsoft.com/office/drawing/2014/main" id="{683D7019-2756-4B64-AF7B-DEE82A45E05B}"/>
              </a:ext>
            </a:extLst>
          </p:cNvPr>
          <p:cNvSpPr>
            <a:spLocks xmlns:a="http://schemas.openxmlformats.org/drawingml/2006/main" noGrp="1"/>
          </p:cNvSpPr>
          <p:nvPr/>
        </p:nvSpPr>
        <p:spPr>
          <a:xfrm xmlns:a="http://schemas.openxmlformats.org/drawingml/2006/main">
            <a:off x="819150" y="5657850"/>
            <a:ext cx="1033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A85615"/>
                </a:solidFill>
                <a:latin typeface="Arial"/>
                <a:ea typeface="Arial"/>
                <a:cs typeface="Arial"/>
              </a:defRPr>
            </a:defPPr>
          </a:lstStyle>
          <a:p xmlns:a="http://schemas.openxmlformats.org/drawingml/2006/main">
            <a:pPr algn="l">
              <a:lnSpc>
                <a:spcPct val="108000"/>
              </a:lnSpc>
              <a:buNone/>
              <a:defRPr sz="1500" b="1">
                <a:solidFill>
                  <a:srgbClr val="A85615"/>
                </a:solidFill>
                <a:latin typeface="Arial"/>
                <a:ea typeface="Arial"/>
                <a:cs typeface="Arial"/>
              </a:defRPr>
            </a:pPr>
            <a:r>
              <a:rPr sz="1500" b="1">
                <a:solidFill>
                  <a:srgbClr val="A85615"/>
                </a:solidFill>
                <a:latin typeface="Arial"/>
                <a:ea typeface="Arial"/>
                <a:cs typeface="Arial"/>
              </a:rPr>
              <a:t>DEMO18 contains no generated AI output. Its flood group is manual; counts may overlap.</a:t>
            </a:r>
          </a:p>
        </p:txBody>
      </p:sp>
    </p:spTree>
    <p:extLst>
      <p:ext uri="{BB962C8B-B14F-4D97-AF65-F5344CB8AC3E}">
        <p14:creationId xmlns:p14="http://schemas.microsoft.com/office/powerpoint/2010/main" val="149297506"/>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8" name="slide-kicker">
            <a:extLst xmlns:a="http://schemas.openxmlformats.org/drawingml/2006/main">
              <a:ext uri="{FF2B5EF4-FFF2-40B4-BE49-F238E27FC236}">
                <a16:creationId xmlns:a16="http://schemas.microsoft.com/office/drawing/2014/main" id="{9AD3BBEA-FCF9-4597-A67F-34DFC76F336C}"/>
              </a:ext>
            </a:extLst>
          </p:cNvPr>
          <p:cNvSpPr>
            <a:spLocks xmlns:a="http://schemas.openxmlformats.org/drawingml/2006/main" noGrp="1"/>
          </p:cNvSpPr>
          <p:nvPr/>
        </p:nvSpPr>
        <p:spPr>
          <a:xfrm xmlns:a="http://schemas.openxmlformats.org/drawingml/2006/main">
            <a:off x="552450" y="32385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7D78"/>
                </a:solidFill>
                <a:latin typeface="Arial"/>
                <a:ea typeface="Arial"/>
                <a:cs typeface="Arial"/>
              </a:defRPr>
            </a:defPPr>
          </a:lstStyle>
          <a:p xmlns:a="http://schemas.openxmlformats.org/drawingml/2006/main">
            <a:pPr algn="l">
              <a:lnSpc>
                <a:spcPct val="108000"/>
              </a:lnSpc>
              <a:buNone/>
              <a:defRPr sz="1050" b="1">
                <a:solidFill>
                  <a:srgbClr val="147D78"/>
                </a:solidFill>
                <a:latin typeface="Arial"/>
                <a:ea typeface="Arial"/>
                <a:cs typeface="Arial"/>
              </a:defRPr>
            </a:pPr>
            <a:r>
              <a:rPr sz="1050" b="1">
                <a:solidFill>
                  <a:srgbClr val="147D78"/>
                </a:solidFill>
                <a:latin typeface="Arial"/>
                <a:ea typeface="Arial"/>
                <a:cs typeface="Arial"/>
              </a:rPr>
              <a:t>AI EMERGENCY RESPONSE</a:t>
            </a:r>
          </a:p>
        </p:txBody>
      </p:sp>
      <p:sp>
        <p:nvSpPr>
          <p:cNvPr id="2" name="slide-title">
            <a:extLst xmlns:a="http://schemas.openxmlformats.org/drawingml/2006/main">
              <a:ext uri="{FF2B5EF4-FFF2-40B4-BE49-F238E27FC236}">
                <a16:creationId xmlns:a16="http://schemas.microsoft.com/office/drawing/2014/main" id="{F0247969-88B1-454F-9F75-C6AF7E9E30DD}"/>
              </a:ext>
            </a:extLst>
          </p:cNvPr>
          <p:cNvSpPr>
            <a:spLocks xmlns:a="http://schemas.openxmlformats.org/drawingml/2006/main" noGrp="1"/>
          </p:cNvSpPr>
          <p:nvPr/>
        </p:nvSpPr>
        <p:spPr>
          <a:xfrm xmlns:a="http://schemas.openxmlformats.org/drawingml/2006/main">
            <a:off x="552450" y="6858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02A43"/>
                </a:solidFill>
                <a:latin typeface="Arial"/>
                <a:ea typeface="Arial"/>
                <a:cs typeface="Arial"/>
              </a:defRPr>
            </a:defPPr>
          </a:lstStyle>
          <a:p xmlns:a="http://schemas.openxmlformats.org/drawingml/2006/main">
            <a:pPr algn="l">
              <a:lnSpc>
                <a:spcPct val="108000"/>
              </a:lnSpc>
              <a:buNone/>
              <a:defRPr sz="3150" b="1">
                <a:solidFill>
                  <a:srgbClr val="102A43"/>
                </a:solidFill>
                <a:latin typeface="Arial"/>
                <a:ea typeface="Arial"/>
                <a:cs typeface="Arial"/>
              </a:defRPr>
            </a:pPr>
            <a:r>
              <a:rPr sz="3150" b="1">
                <a:solidFill>
                  <a:srgbClr val="102A43"/>
                </a:solidFill>
                <a:latin typeface="Arial"/>
                <a:ea typeface="Arial"/>
                <a:cs typeface="Arial"/>
              </a:rPr>
              <a:t>Engineering evidence and release status</a:t>
            </a:r>
          </a:p>
        </p:txBody>
      </p:sp>
      <p:sp>
        <p:nvSpPr>
          <p:cNvPr id="3" name="slide-number">
            <a:extLst xmlns:a="http://schemas.openxmlformats.org/drawingml/2006/main">
              <a:ext uri="{FF2B5EF4-FFF2-40B4-BE49-F238E27FC236}">
                <a16:creationId xmlns:a16="http://schemas.microsoft.com/office/drawing/2014/main" id="{BDEB8CD9-1EA0-447F-A0C9-49A4587E3ACF}"/>
              </a:ext>
            </a:extLst>
          </p:cNvPr>
          <p:cNvSpPr>
            <a:spLocks xmlns:a="http://schemas.openxmlformats.org/drawingml/2006/main" noGrp="1"/>
          </p:cNvSpPr>
          <p:nvPr/>
        </p:nvSpPr>
        <p:spPr>
          <a:xfrm xmlns:a="http://schemas.openxmlformats.org/drawingml/2006/main">
            <a:off x="11163300" y="6400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0">
                <a:solidFill>
                  <a:srgbClr val="526475"/>
                </a:solidFill>
                <a:latin typeface="Arial"/>
                <a:ea typeface="Arial"/>
                <a:cs typeface="Arial"/>
              </a:defRPr>
            </a:defPPr>
          </a:lstStyle>
          <a:p xmlns:a="http://schemas.openxmlformats.org/drawingml/2006/main">
            <a:pPr algn="r">
              <a:lnSpc>
                <a:spcPct val="108000"/>
              </a:lnSpc>
              <a:buNone/>
              <a:defRPr sz="1050" b="0">
                <a:solidFill>
                  <a:srgbClr val="526475"/>
                </a:solidFill>
                <a:latin typeface="Arial"/>
                <a:ea typeface="Arial"/>
                <a:cs typeface="Arial"/>
              </a:defRPr>
            </a:pPr>
            <a:r>
              <a:rPr sz="1050" b="0">
                <a:solidFill>
                  <a:srgbClr val="526475"/>
                </a:solidFill>
                <a:latin typeface="Arial"/>
                <a:ea typeface="Arial"/>
                <a:cs typeface="Arial"/>
              </a:rPr>
              <a:t>06</a:t>
            </a:r>
          </a:p>
        </p:txBody>
      </p:sp>
      <p:sp>
        <p:nvSpPr>
          <p:cNvPr id="4" name="verified">
            <a:extLst xmlns:a="http://schemas.openxmlformats.org/drawingml/2006/main">
              <a:ext uri="{FF2B5EF4-FFF2-40B4-BE49-F238E27FC236}">
                <a16:creationId xmlns:a16="http://schemas.microsoft.com/office/drawing/2014/main" id="{5D74D1C4-942D-40CA-8D6E-8CAC7E77DB2E}"/>
              </a:ext>
            </a:extLst>
          </p:cNvPr>
          <p:cNvSpPr>
            <a:spLocks xmlns:a="http://schemas.openxmlformats.org/drawingml/2006/main" noGrp="1"/>
          </p:cNvSpPr>
          <p:nvPr/>
        </p:nvSpPr>
        <p:spPr>
          <a:xfrm xmlns:a="http://schemas.openxmlformats.org/drawingml/2006/main">
            <a:off x="685800" y="15049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47D78"/>
                </a:solidFill>
                <a:latin typeface="Arial"/>
                <a:ea typeface="Arial"/>
                <a:cs typeface="Arial"/>
              </a:defRPr>
            </a:defPPr>
          </a:lstStyle>
          <a:p xmlns:a="http://schemas.openxmlformats.org/drawingml/2006/main">
            <a:pPr algn="l">
              <a:lnSpc>
                <a:spcPct val="108000"/>
              </a:lnSpc>
              <a:buNone/>
              <a:defRPr sz="1875" b="1">
                <a:solidFill>
                  <a:srgbClr val="147D78"/>
                </a:solidFill>
                <a:latin typeface="Arial"/>
                <a:ea typeface="Arial"/>
                <a:cs typeface="Arial"/>
              </a:defRPr>
            </a:pPr>
            <a:r>
              <a:rPr sz="1875" b="1">
                <a:solidFill>
                  <a:srgbClr val="147D78"/>
                </a:solidFill>
                <a:latin typeface="Arial"/>
                <a:ea typeface="Arial"/>
                <a:cs typeface="Arial"/>
              </a:rPr>
              <a:t>Local release-preparation checks, 17 Oct 2026</a:t>
            </a:r>
          </a:p>
        </p:txBody>
      </p:sp>
      <p:sp>
        <p:nvSpPr>
          <p:cNvPr id="5" name="test-counts">
            <a:extLst xmlns:a="http://schemas.openxmlformats.org/drawingml/2006/main">
              <a:ext uri="{FF2B5EF4-FFF2-40B4-BE49-F238E27FC236}">
                <a16:creationId xmlns:a16="http://schemas.microsoft.com/office/drawing/2014/main" id="{4DBAAAA3-6C4F-4247-A230-0C42AF59D378}"/>
              </a:ext>
            </a:extLst>
          </p:cNvPr>
          <p:cNvSpPr>
            <a:spLocks xmlns:a="http://schemas.openxmlformats.org/drawingml/2006/main" noGrp="1"/>
          </p:cNvSpPr>
          <p:nvPr/>
        </p:nvSpPr>
        <p:spPr>
          <a:xfrm xmlns:a="http://schemas.openxmlformats.org/drawingml/2006/main">
            <a:off x="742950" y="2076450"/>
            <a:ext cx="10001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B3A"/>
                </a:solidFill>
                <a:latin typeface="Arial"/>
                <a:ea typeface="Arial"/>
                <a:cs typeface="Arial"/>
              </a:defRPr>
            </a:defPPr>
          </a:lstStyle>
          <a:p xmlns:a="http://schemas.openxmlformats.org/drawingml/2006/main">
            <a:pPr algn="l">
              <a:lnSpc>
                <a:spcPct val="120000"/>
              </a:lnSpc>
              <a:buNone/>
              <a:defRPr sz="1725" b="0">
                <a:solidFill>
                  <a:srgbClr val="172B3A"/>
                </a:solidFill>
                <a:latin typeface="Arial"/>
                <a:ea typeface="Arial"/>
                <a:cs typeface="Arial"/>
              </a:defRPr>
            </a:pPr>
            <a:r>
              <a:rPr sz="1725" b="0">
                <a:solidFill>
                  <a:srgbClr val="172B3A"/>
                </a:solidFill>
                <a:latin typeface="Arial"/>
                <a:ea typeface="Arial"/>
                <a:cs typeface="Arial"/>
              </a:rPr>
              <a:t>Release build passed (49 warnings, 0 errors)</a:t>
            </a:r>
          </a:p>
          <a:p xmlns:a="http://schemas.openxmlformats.org/drawingml/2006/main">
            <a:pPr algn="l">
              <a:lnSpc>
                <a:spcPct val="120000"/>
              </a:lnSpc>
              <a:buNone/>
              <a:defRPr sz="1725" b="0">
                <a:solidFill>
                  <a:srgbClr val="172B3A"/>
                </a:solidFill>
                <a:latin typeface="Arial"/>
                <a:ea typeface="Arial"/>
                <a:cs typeface="Arial"/>
              </a:defRPr>
            </a:pPr>
            <a:r>
              <a:rPr sz="1725" b="0">
                <a:solidFill>
                  <a:srgbClr val="172B3A"/>
                </a:solidFill>
                <a:latin typeface="Arial"/>
                <a:ea typeface="Arial"/>
                <a:cs typeface="Arial"/>
              </a:rPr>
              <a:t>572 unit tests, 89 isolated SQL integration tests</a:t>
            </a:r>
          </a:p>
          <a:p xmlns:a="http://schemas.openxmlformats.org/drawingml/2006/main">
            <a:pPr algn="l">
              <a:lnSpc>
                <a:spcPct val="120000"/>
              </a:lnSpc>
              <a:buNone/>
              <a:defRPr sz="1725" b="0">
                <a:solidFill>
                  <a:srgbClr val="172B3A"/>
                </a:solidFill>
                <a:latin typeface="Arial"/>
                <a:ea typeface="Arial"/>
                <a:cs typeface="Arial"/>
              </a:defRPr>
            </a:pPr>
            <a:r>
              <a:rPr sz="1725" b="0">
                <a:solidFill>
                  <a:srgbClr val="172B3A"/>
                </a:solidFill>
                <a:latin typeface="Arial"/>
                <a:ea typeface="Arial"/>
                <a:cs typeface="Arial"/>
              </a:rPr>
              <a:t>28 UI JavaScript checks, 4 JavaScript syntax checks</a:t>
            </a:r>
          </a:p>
        </p:txBody>
      </p:sp>
      <p:sp>
        <p:nvSpPr>
          <p:cNvPr id="6" name="readiness">
            <a:extLst xmlns:a="http://schemas.openxmlformats.org/drawingml/2006/main">
              <a:ext uri="{FF2B5EF4-FFF2-40B4-BE49-F238E27FC236}">
                <a16:creationId xmlns:a16="http://schemas.microsoft.com/office/drawing/2014/main" id="{F280F41F-C3A3-437D-96F0-739EF5E111A2}"/>
              </a:ext>
            </a:extLst>
          </p:cNvPr>
          <p:cNvSpPr>
            <a:spLocks xmlns:a="http://schemas.openxmlformats.org/drawingml/2006/main" noGrp="1"/>
          </p:cNvSpPr>
          <p:nvPr/>
        </p:nvSpPr>
        <p:spPr>
          <a:xfrm xmlns:a="http://schemas.openxmlformats.org/drawingml/2006/main">
            <a:off x="742950" y="3886200"/>
            <a:ext cx="10287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02A43"/>
                </a:solidFill>
                <a:latin typeface="Arial"/>
                <a:ea typeface="Arial"/>
                <a:cs typeface="Arial"/>
              </a:defRPr>
            </a:defPPr>
          </a:lstStyle>
          <a:p xmlns:a="http://schemas.openxmlformats.org/drawingml/2006/main">
            <a:pPr algn="l">
              <a:lnSpc>
                <a:spcPct val="120000"/>
              </a:lnSpc>
              <a:buNone/>
              <a:defRPr sz="1650" b="0">
                <a:solidFill>
                  <a:srgbClr val="102A43"/>
                </a:solidFill>
                <a:latin typeface="Arial"/>
                <a:ea typeface="Arial"/>
                <a:cs typeface="Arial"/>
              </a:defRPr>
            </a:pPr>
            <a:r>
              <a:rPr sz="1650" b="0">
                <a:solidFill>
                  <a:srgbClr val="102A43"/>
                </a:solidFill>
                <a:latin typeface="Arial"/>
                <a:ea typeface="Arial"/>
                <a:cs typeface="Arial"/>
              </a:rPr>
              <a:t>No verified public host or Azure deployment.</a:t>
            </a:r>
          </a:p>
          <a:p xmlns:a="http://schemas.openxmlformats.org/drawingml/2006/main">
            <a:pPr algn="l">
              <a:lnSpc>
                <a:spcPct val="120000"/>
              </a:lnSpc>
              <a:buNone/>
              <a:defRPr sz="1650" b="0">
                <a:solidFill>
                  <a:srgbClr val="102A43"/>
                </a:solidFill>
                <a:latin typeface="Arial"/>
                <a:ea typeface="Arial"/>
                <a:cs typeface="Arial"/>
              </a:defRPr>
            </a:pPr>
            <a:r>
              <a:rPr sz="1650" b="0">
                <a:solidFill>
                  <a:srgbClr val="102A43"/>
                </a:solidFill>
                <a:latin typeface="Arial"/>
                <a:ea typeface="Arial"/>
                <a:cs typeface="Arial"/>
              </a:rPr>
              <a:t>Current browser and responsive acceptance pending.</a:t>
            </a:r>
          </a:p>
          <a:p xmlns:a="http://schemas.openxmlformats.org/drawingml/2006/main">
            <a:pPr algn="l">
              <a:lnSpc>
                <a:spcPct val="120000"/>
              </a:lnSpc>
              <a:buNone/>
              <a:defRPr sz="1650" b="0">
                <a:solidFill>
                  <a:srgbClr val="102A43"/>
                </a:solidFill>
                <a:latin typeface="Arial"/>
                <a:ea typeface="Arial"/>
                <a:cs typeface="Arial"/>
              </a:defRPr>
            </a:pPr>
            <a:r>
              <a:rPr sz="1650" b="0">
                <a:solidFill>
                  <a:srgbClr val="102A43"/>
                </a:solidFill>
                <a:latin typeface="Arial"/>
                <a:ea typeface="Arial"/>
                <a:cs typeface="Arial"/>
              </a:rPr>
              <a:t>Operational pilot remains NO-GO.</a:t>
            </a:r>
          </a:p>
          <a:p xmlns:a="http://schemas.openxmlformats.org/drawingml/2006/main">
            <a:pPr algn="l">
              <a:lnSpc>
                <a:spcPct val="120000"/>
              </a:lnSpc>
              <a:buNone/>
              <a:defRPr sz="1650" b="0">
                <a:solidFill>
                  <a:srgbClr val="102A43"/>
                </a:solidFill>
                <a:latin typeface="Arial"/>
                <a:ea typeface="Arial"/>
                <a:cs typeface="Arial"/>
              </a:defRPr>
            </a:pPr>
            <a:r>
              <a:rPr sz="1650" b="0">
                <a:solidFill>
                  <a:srgbClr val="102A43"/>
                </a:solidFill>
                <a:latin typeface="Arial"/>
                <a:ea typeface="Arial"/>
                <a:cs typeface="Arial"/>
              </a:rPr>
              <a:t>Development startup requires reviewed database migrations.</a:t>
            </a:r>
          </a:p>
        </p:txBody>
      </p:sp>
      <p:sp>
        <p:nvSpPr>
          <p:cNvPr id="7" name="close">
            <a:extLst xmlns:a="http://schemas.openxmlformats.org/drawingml/2006/main">
              <a:ext uri="{FF2B5EF4-FFF2-40B4-BE49-F238E27FC236}">
                <a16:creationId xmlns:a16="http://schemas.microsoft.com/office/drawing/2014/main" id="{C06B32A6-0BFA-4ED3-B503-7F2CCC8E2A8B}"/>
              </a:ext>
            </a:extLst>
          </p:cNvPr>
          <p:cNvSpPr>
            <a:spLocks xmlns:a="http://schemas.openxmlformats.org/drawingml/2006/main" noGrp="1"/>
          </p:cNvSpPr>
          <p:nvPr/>
        </p:nvSpPr>
        <p:spPr>
          <a:xfrm xmlns:a="http://schemas.openxmlformats.org/drawingml/2006/main">
            <a:off x="742950" y="5753100"/>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457A7"/>
                </a:solidFill>
                <a:latin typeface="Arial"/>
                <a:ea typeface="Arial"/>
                <a:cs typeface="Arial"/>
              </a:defRPr>
            </a:defPPr>
          </a:lstStyle>
          <a:p xmlns:a="http://schemas.openxmlformats.org/drawingml/2006/main">
            <a:pPr algn="l">
              <a:lnSpc>
                <a:spcPct val="108000"/>
              </a:lnSpc>
              <a:buNone/>
              <a:defRPr sz="1425" b="1">
                <a:solidFill>
                  <a:srgbClr val="2457A7"/>
                </a:solidFill>
                <a:latin typeface="Arial"/>
                <a:ea typeface="Arial"/>
                <a:cs typeface="Arial"/>
              </a:defRPr>
            </a:pPr>
            <a:r>
              <a:rPr sz="1425" b="1">
                <a:solidFill>
                  <a:srgbClr val="2457A7"/>
                </a:solidFill>
                <a:latin typeface="Arial"/>
                <a:ea typeface="Arial"/>
                <a:cs typeface="Arial"/>
              </a:rPr>
              <a:t>Next: align the local schema, run the real walkthrough, capture corrected screens, and review release blockers.</a:t>
            </a:r>
          </a:p>
        </p:txBody>
      </p:sp>
    </p:spTree>
    <p:extLst>
      <p:ext uri="{BB962C8B-B14F-4D97-AF65-F5344CB8AC3E}">
        <p14:creationId xmlns:p14="http://schemas.microsoft.com/office/powerpoint/2010/main" val="333313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2026-10-16T20:15:11.7100000Z</dcterms:created>
  <dcterms:modified xsi:type="dcterms:W3CDTF">2026-10-16T20:15:11.7100000Z</dcterms:modified>
</coreProperties>
</file>